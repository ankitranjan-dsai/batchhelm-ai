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4"/>
  </p:normalViewPr>
  <p:slideViewPr>
    <p:cSldViewPr snapToGrid="0">
      <p:cViewPr varScale="1">
        <p:scale>
          <a:sx n="114" d="100"/>
          <a:sy n="114" d="100"/>
        </p:scale>
        <p:origin x="49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1"/>
  <c:style val="2"/>
  <c:chart>
    <c:title>
      <c:tx>
        <c:rich>
          <a:bodyPr/>
          <a:lstStyle/>
          <a:p>
            <a:r>
              <a:rPr sz="2400" b="1">
                <a:solidFill>
                  <a:srgbClr val="132925"/>
                </a:solidFill>
              </a:rPr>
              <a:t>Mean end-to-end latency (ms)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v>Latency</c:v>
          </c:tx>
          <c:spPr>
            <a:solidFill>
              <a:srgbClr val="087C72"/>
            </a:solidFill>
          </c:spPr>
          <c:invertIfNegative val="1"/>
          <c:dPt>
            <c:idx val="0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8997-4E42-8069-F59BA6D05713}"/>
              </c:ext>
            </c:extLst>
          </c:dPt>
          <c:dPt>
            <c:idx val="1"/>
            <c:invertIfNegative val="1"/>
            <c:bubble3D val="0"/>
            <c:spPr>
              <a:solidFill>
                <a:srgbClr val="94A8A3"/>
              </a:solidFill>
            </c:spPr>
            <c:extLst>
              <c:ext xmlns:c16="http://schemas.microsoft.com/office/drawing/2014/chart" uri="{C3380CC4-5D6E-409C-BE32-E72D297353CC}">
                <c16:uniqueId val="{00000003-8997-4E42-8069-F59BA6D05713}"/>
              </c:ext>
            </c:extLst>
          </c:dPt>
          <c:dLbls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Agent Society DAG</c:v>
              </c:pt>
              <c:pt idx="1">
                <c:v>Sequential baseline</c:v>
              </c:pt>
            </c:strLit>
          </c:cat>
          <c:val>
            <c:numLit>
              <c:formatCode>General</c:formatCode>
              <c:ptCount val="2"/>
              <c:pt idx="0">
                <c:v>1095.3</c:v>
              </c:pt>
              <c:pt idx="1">
                <c:v>1633.9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8997-4E42-8069-F59BA6D05713}"/>
            </c:ext>
          </c:extLst>
        </c:ser>
        <c:dLbls>
          <c:dLblPos val="outEnd"/>
          <c:showLegendKey val="1"/>
          <c:showVal val="1"/>
          <c:showCatName val="1"/>
          <c:showSerName val="1"/>
          <c:showPercent val="1"/>
          <c:showBubbleSize val="1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132925"/>
                </a:solidFill>
              </a:defRPr>
            </a:pPr>
            <a:endParaRPr lang="en-US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0">
            <a:noFill/>
            <a:prstDash val="solid"/>
          </a:ln>
        </c:spPr>
        <c:txPr>
          <a:bodyPr anchorCtr="1"/>
          <a:lstStyle/>
          <a:p>
            <a:pPr>
              <a:defRPr sz="1650">
                <a:solidFill>
                  <a:srgbClr val="132925"/>
                </a:solidFill>
              </a:defRPr>
            </a:pPr>
            <a:endParaRPr lang="en-US"/>
          </a:p>
        </c:txPr>
        <c:crossAx val="48650112"/>
        <c:crosses val="autoZero"/>
        <c:crossBetween val="between"/>
      </c:valAx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C47CA-50D6-4EDC-A782-E13DA54FF1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48940C-3436-4084-A2EB-03C0D83377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CAB78-F8F4-4104-B740-C14EE1EC1C9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1DAA6E-F6E3-4437-85A9-436ECE2FC1C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E4F376-5BA9-45B8-8E5F-C6B448CE3EC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CD04D-2B0C-4510-9E49-9D883F556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39E5F3-7E11-406C-895D-C669B3932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6E2B2-3F9E-452C-AC93-55ECD59E903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C7986C-7E0C-4E03-B4C4-3B084CF4037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5E4A1D-75C2-4B66-84D3-0B6D1F055D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BEE51-E12D-4376-8830-94E32793B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buNone/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0D5068-57F8-472A-8A1C-48BAF3C54D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1335AE-9ECB-4A80-A38A-7E0FD073823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36E5C-BD2C-4BCB-ABFA-9235B26867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0CC26A-6A55-4BD6-90D5-41E1E144825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03C39-A5E3-4E99-A98C-F36D006E3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9A5D2-2A88-4662-8FBF-1190C077F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0B8A9D-732E-4BE2-B6DF-E1D452026920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ABB1E2-6EAF-47EF-8A3A-4E6CD6DD683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358B11-C9BC-41C1-8078-73F84FD7EC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9B466F-9662-4316-80AD-CE4421AAD8F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C135C-35E7-480B-B390-CC075F23D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DEEEB0-1CFF-4423-87B3-7974C726C2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057DB0-9F5E-4958-AA7C-53B728C3D22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F5BEF0-EB99-40B0-916A-F3BD7F9624E8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93612-60FA-45CD-9608-2298182EF59C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9C4935-9061-4698-B96E-C7BFCC28B21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309049-0F72-42B5-808D-FEB0BFE6E6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C1CA5B-62C0-47D9-9E98-CFA1060F5C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C6D86-F588-4918-917F-639202B5B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0BBFEE-F5A5-4E9A-AAE5-85BD6157B0D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AB8C27-7687-463F-81CB-3B68721FA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2C0C6-2681-403E-9410-736920223C6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9E6899-8F40-4E9C-A0E4-C0F0CDEBC17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0D9C7D-A483-451C-A264-33865CD2E8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7049D4-99B9-4203-942C-CAEEA12239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E8468-099D-45F2-B309-301F7F5DD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6CF688-575D-4C46-AC85-242FBBAF0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24C26-4B72-434A-8CA6-E8943BA7581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43E391-0326-44C3-B49D-A413A0AE552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1CFADA-A45B-4433-A805-48C46A427A8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8EA63-4DB6-4914-A723-D229AC0C34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10292-C8B3-477A-800A-18E01DF99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buNone/>
              <a:defRPr sz="2000" b="1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E97E5-850F-46B6-A20D-471E909B26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95DF34-5566-4761-93F5-1D1AFCA6125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82B1E4-F2F7-41C6-9EED-8C750518292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9597BB-A807-46E2-8064-289E9E38B7D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79706C-CC84-4AEE-84EE-EFFD8159DD3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2A8DD-E27C-4201-8459-F6F68CD4F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0D90C3-33ED-4A40-BDDC-FF2F26642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A3A8F0-A87F-4BD6-B028-7268E2B5A21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D44B6-5CB4-4AE2-A1C5-E0E936CDA95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5E04D-708F-4175-82DE-5F895C1F53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4075833-E023-458E-A152-47BAD907A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304091-0576-41B1-B057-F906D53F3D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6CD16F-747F-4CCC-8F87-4F9C40BDEEC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BCE3F3-6448-4713-BA8F-EF779D3C7E4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80D81-096F-4F89-9E1B-7BD8C760482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FF6DA9-008F-8B48-92A6-B652298478B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F28B1A-E204-4FCB-93F1-5F7AA3960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91396C-43DC-4CB0-805B-8BA71FCD96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>
              <a:buNone/>
            </a:pPr>
            <a:r>
              <a:t>Click to edit Master text styles</a:t>
            </a:r>
          </a:p>
          <a:p>
            <a:pPr>
              <a:buNone/>
            </a:pPr>
            <a:r>
              <a:t>Second level</a:t>
            </a:r>
          </a:p>
          <a:p>
            <a:pPr>
              <a:buNone/>
            </a:pPr>
            <a:r>
              <a:t>Third level</a:t>
            </a:r>
          </a:p>
          <a:p>
            <a:pPr>
              <a:buNone/>
            </a:pPr>
            <a:r>
              <a:t>Fourth level</a:t>
            </a:r>
          </a:p>
          <a:p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73987A-1CF3-4A1F-9DD3-4245E25F333E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t>7/4/26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2F758A-A055-48F8-8890-B861C6CD9785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0C24B-3564-4DB5-B917-653032D0416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D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1585E-705D-4054-A8CA-792C10D16B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781050"/>
            <a:ext cx="3619500" cy="8953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54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54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BatchHelm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C035C-DDA9-4142-BBCA-A08D1929D8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924050"/>
            <a:ext cx="3562350" cy="323850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24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 recall packet becomes a controlled response.</a:t>
            </a:r>
          </a:p>
          <a:p>
            <a:pPr marL="0" indent="0" algn="l">
              <a:spcAft>
                <a:spcPts val="38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D6E3DF"/>
                </a:solidFill>
                <a:latin typeface="Aptos"/>
                <a:ea typeface="Aptos"/>
                <a:cs typeface="Aptos"/>
              </a:rPr>
              <a:t>Real intake. Nine specialist agents. Human evidence gate.</a:t>
            </a:r>
          </a:p>
          <a:p>
            <a:pPr marL="0" indent="0" algn="l">
              <a:spcAft>
                <a:spcPts val="7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A9D8D3"/>
                </a:solidFill>
                <a:latin typeface="Aptos"/>
                <a:ea typeface="Aptos"/>
                <a:cs typeface="Aptos"/>
              </a:rPr>
              <a:t>Qwen Global AI Hackathon</a:t>
            </a:r>
          </a:p>
          <a:p>
            <a:pPr marL="0" indent="0" algn="l">
              <a:spcAft>
                <a:spcPts val="0"/>
              </a:spcAft>
              <a:buNone/>
              <a:defRPr sz="157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Ankit Ranjan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rcRect l="16590" r="16590"/>
          <a:stretch>
            <a:fillRect/>
          </a:stretch>
        </p:blipFill>
        <p:spPr>
          <a:xfrm>
            <a:off x="4762500" y="590550"/>
            <a:ext cx="6743700" cy="5676900"/>
          </a:xfrm>
          <a:prstGeom prst="roundRect">
            <a:avLst>
              <a:gd name="adj" fmla="val 1007"/>
            </a:avLst>
          </a:prstGeom>
        </p:spPr>
      </p:pic>
    </p:spTree>
    <p:extLst>
      <p:ext uri="{BB962C8B-B14F-4D97-AF65-F5344CB8AC3E}">
        <p14:creationId xmlns:p14="http://schemas.microsoft.com/office/powerpoint/2010/main" val="523999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D60A-BC59-4F1F-B069-8D3E800FD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Recalls create five unanswered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342A9-69CB-47E2-BC98-74284CB8A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4667250" cy="432435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01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What product and lots are affected?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02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Where are matching units now?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03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Who must act?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04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Who may need notification?</a:t>
            </a:r>
          </a:p>
          <a:p>
            <a:pPr marL="0" indent="0" algn="l">
              <a:spcAft>
                <a:spcPts val="22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05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What evidence must survive?</a:t>
            </a:r>
          </a:p>
          <a:p>
            <a:pPr marL="0" indent="0" algn="l">
              <a:spcAft>
                <a:spcPts val="15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Small operators must answer all five without enterprise recall tooling.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0597062-CFCA-4A33-89EC-7B59CE1578BB}"/>
              </a:ext>
            </a:extLst>
          </p:cNvPr>
          <p:cNvSpPr>
            <a:spLocks noGrp="1"/>
          </p:cNvSpPr>
          <p:nvPr/>
        </p:nvSpPr>
        <p:spPr>
          <a:xfrm>
            <a:off x="6019800" y="1504950"/>
            <a:ext cx="2286000" cy="361950"/>
          </a:xfrm>
          <a:prstGeom prst="roundRect">
            <a:avLst>
              <a:gd name="adj" fmla="val 15789"/>
            </a:avLst>
          </a:prstGeom>
          <a:solidFill>
            <a:srgbClr val="FBEAE8"/>
          </a:solidFill>
          <a:ln w="9525">
            <a:solidFill>
              <a:srgbClr val="F3C4BE"/>
            </a:solidFill>
            <a:prstDash val="solid"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97A436-483C-4B42-B3DC-566FD2A5F57F}"/>
              </a:ext>
            </a:extLst>
          </p:cNvPr>
          <p:cNvSpPr>
            <a:spLocks noGrp="1"/>
          </p:cNvSpPr>
          <p:nvPr/>
        </p:nvSpPr>
        <p:spPr>
          <a:xfrm>
            <a:off x="6096000" y="1533525"/>
            <a:ext cx="2133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SYNTHETIC PACKET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F57F4E0-BA19-4FBB-8C1B-72EC57A6B6DF}"/>
              </a:ext>
            </a:extLst>
          </p:cNvPr>
          <p:cNvSpPr>
            <a:spLocks noGrp="1"/>
          </p:cNvSpPr>
          <p:nvPr/>
        </p:nvSpPr>
        <p:spPr>
          <a:xfrm>
            <a:off x="6000750" y="1962150"/>
            <a:ext cx="2647950" cy="4210050"/>
          </a:xfrm>
          <a:prstGeom prst="roundRect">
            <a:avLst>
              <a:gd name="adj" fmla="val 2158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19800" y="2378449"/>
            <a:ext cx="2609850" cy="3377453"/>
          </a:xfrm>
          <a:prstGeom prst="roundRect">
            <a:avLst>
              <a:gd name="adj" fmla="val 2190"/>
            </a:avLst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C2598F8-DD4B-43AE-9A9E-6B57CF4A41C9}"/>
              </a:ext>
            </a:extLst>
          </p:cNvPr>
          <p:cNvSpPr>
            <a:spLocks noGrp="1"/>
          </p:cNvSpPr>
          <p:nvPr/>
        </p:nvSpPr>
        <p:spPr>
          <a:xfrm>
            <a:off x="8839200" y="1962150"/>
            <a:ext cx="2590800" cy="201930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rcRect l="10994" r="10994"/>
          <a:stretch>
            <a:fillRect/>
          </a:stretch>
        </p:blipFill>
        <p:spPr>
          <a:xfrm>
            <a:off x="8858250" y="1981200"/>
            <a:ext cx="2552700" cy="1981200"/>
          </a:xfrm>
          <a:prstGeom prst="roundRect">
            <a:avLst>
              <a:gd name="adj" fmla="val 2885"/>
            </a:avLst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7CD7E11-2F55-45DD-84AD-5C3B4A62127D}"/>
              </a:ext>
            </a:extLst>
          </p:cNvPr>
          <p:cNvSpPr>
            <a:spLocks noGrp="1"/>
          </p:cNvSpPr>
          <p:nvPr/>
        </p:nvSpPr>
        <p:spPr>
          <a:xfrm>
            <a:off x="8858250" y="4267200"/>
            <a:ext cx="25527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0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The notice identifies risk.</a:t>
            </a:r>
          </a:p>
          <a:p>
            <a:pPr marL="0" indent="0" algn="l">
              <a:spcAft>
                <a:spcPts val="8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The shelf image proves why evidence still needs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1868529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B0532-8A55-4D89-A415-332A73002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Files, Review, Launch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178D-AC97-4B37-85AB-F5ECFEDB5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485900"/>
            <a:ext cx="2914650" cy="476250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2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Ambiguous inputs become a launchable incident only after review.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6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accepted rows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2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safely rejected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23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on-hand units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2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stores</a:t>
            </a:r>
          </a:p>
          <a:p>
            <a:pPr marL="0" indent="0" algn="l">
              <a:spcAft>
                <a:spcPts val="8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325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2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review warnings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8087B0-126D-4652-AE30-C28FA3B8F607}"/>
              </a:ext>
            </a:extLst>
          </p:cNvPr>
          <p:cNvSpPr>
            <a:spLocks noGrp="1"/>
          </p:cNvSpPr>
          <p:nvPr/>
        </p:nvSpPr>
        <p:spPr>
          <a:xfrm>
            <a:off x="4095750" y="1543050"/>
            <a:ext cx="114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2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01</a:t>
            </a: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FILES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282F77C-A44D-44FE-8745-E22235300601}"/>
              </a:ext>
            </a:extLst>
          </p:cNvPr>
          <p:cNvSpPr>
            <a:spLocks noGrp="1"/>
          </p:cNvSpPr>
          <p:nvPr/>
        </p:nvSpPr>
        <p:spPr>
          <a:xfrm>
            <a:off x="5219700" y="1704975"/>
            <a:ext cx="895350" cy="19050"/>
          </a:xfrm>
          <a:prstGeom prst="rect">
            <a:avLst/>
          </a:prstGeom>
          <a:solidFill>
            <a:srgbClr val="D6E3DF"/>
          </a:solidFill>
          <a:ln w="0">
            <a:solidFill>
              <a:srgbClr val="D6E3DF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63F2A2-C79F-4C83-A1E2-81404A95398F}"/>
              </a:ext>
            </a:extLst>
          </p:cNvPr>
          <p:cNvSpPr>
            <a:spLocks noGrp="1"/>
          </p:cNvSpPr>
          <p:nvPr/>
        </p:nvSpPr>
        <p:spPr>
          <a:xfrm>
            <a:off x="6229350" y="1543050"/>
            <a:ext cx="1333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2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02</a:t>
            </a: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REVIEW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78594E-68B8-4E27-A726-95342C8FB4E2}"/>
              </a:ext>
            </a:extLst>
          </p:cNvPr>
          <p:cNvSpPr>
            <a:spLocks noGrp="1"/>
          </p:cNvSpPr>
          <p:nvPr/>
        </p:nvSpPr>
        <p:spPr>
          <a:xfrm>
            <a:off x="7524750" y="1704975"/>
            <a:ext cx="895350" cy="19050"/>
          </a:xfrm>
          <a:prstGeom prst="rect">
            <a:avLst/>
          </a:prstGeom>
          <a:solidFill>
            <a:srgbClr val="D6E3DF"/>
          </a:solidFill>
          <a:ln w="0">
            <a:solidFill>
              <a:srgbClr val="D6E3DF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C7D99-F6A3-4565-ACBE-90F659169686}"/>
              </a:ext>
            </a:extLst>
          </p:cNvPr>
          <p:cNvSpPr>
            <a:spLocks noGrp="1"/>
          </p:cNvSpPr>
          <p:nvPr/>
        </p:nvSpPr>
        <p:spPr>
          <a:xfrm>
            <a:off x="8534400" y="1543050"/>
            <a:ext cx="1333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2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03</a:t>
            </a: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LAUNCH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F0D46D3-8740-49B6-B113-976D012467DB}"/>
              </a:ext>
            </a:extLst>
          </p:cNvPr>
          <p:cNvSpPr>
            <a:spLocks noGrp="1"/>
          </p:cNvSpPr>
          <p:nvPr/>
        </p:nvSpPr>
        <p:spPr>
          <a:xfrm>
            <a:off x="4076700" y="2019300"/>
            <a:ext cx="3105150" cy="1762125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096808" y="2038350"/>
            <a:ext cx="3064933" cy="1724025"/>
          </a:xfrm>
          <a:prstGeom prst="roundRect">
            <a:avLst>
              <a:gd name="adj" fmla="val 3315"/>
            </a:avLst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E479CD6-B606-4F03-B170-16CE5F08A67F}"/>
              </a:ext>
            </a:extLst>
          </p:cNvPr>
          <p:cNvSpPr>
            <a:spLocks noGrp="1"/>
          </p:cNvSpPr>
          <p:nvPr/>
        </p:nvSpPr>
        <p:spPr>
          <a:xfrm>
            <a:off x="7353300" y="2019300"/>
            <a:ext cx="4076700" cy="230505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76583" y="2038350"/>
            <a:ext cx="4030133" cy="2266950"/>
          </a:xfrm>
          <a:prstGeom prst="roundRect">
            <a:avLst>
              <a:gd name="adj" fmla="val 2521"/>
            </a:avLst>
          </a:prstGeom>
        </p:spPr>
      </p:pic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01B94A6-BF77-4541-ADB6-99874AC40D4D}"/>
              </a:ext>
            </a:extLst>
          </p:cNvPr>
          <p:cNvSpPr>
            <a:spLocks noGrp="1"/>
          </p:cNvSpPr>
          <p:nvPr/>
        </p:nvSpPr>
        <p:spPr>
          <a:xfrm>
            <a:off x="4095750" y="4552950"/>
            <a:ext cx="7315200" cy="1524000"/>
          </a:xfrm>
          <a:prstGeom prst="roundRect">
            <a:avLst>
              <a:gd name="adj" fmla="val 3750"/>
            </a:avLst>
          </a:prstGeom>
          <a:solidFill>
            <a:srgbClr val="E6F3F1"/>
          </a:solidFill>
          <a:ln w="9525">
            <a:solidFill>
              <a:srgbClr val="B8DAD6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C99786-99C5-4FD1-84D9-DC93C9C92600}"/>
              </a:ext>
            </a:extLst>
          </p:cNvPr>
          <p:cNvSpPr>
            <a:spLocks noGrp="1"/>
          </p:cNvSpPr>
          <p:nvPr/>
        </p:nvSpPr>
        <p:spPr>
          <a:xfrm>
            <a:off x="4324350" y="4762500"/>
            <a:ext cx="6858000" cy="1085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4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Field-level provenance is visible before launch</a:t>
            </a:r>
          </a:p>
          <a:p>
            <a:pPr marL="0" indent="0" algn="l">
              <a:spcAft>
                <a:spcPts val="8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Supplier notice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identifies the product and lots. </a:t>
            </a: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Inventory rows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carry accepted or rejected status. </a:t>
            </a: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Shelf evidence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remains explicitly unknown until reviewed.</a:t>
            </a:r>
          </a:p>
        </p:txBody>
      </p:sp>
    </p:spTree>
    <p:extLst>
      <p:ext uri="{BB962C8B-B14F-4D97-AF65-F5344CB8AC3E}">
        <p14:creationId xmlns:p14="http://schemas.microsoft.com/office/powerpoint/2010/main" val="1563788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F721-E1D7-4F93-8C0B-8C1E1A7DA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Autonomy stops at the evidence gate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58AE3-BB07-41D6-BE8F-697A1BF422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04950"/>
            <a:ext cx="4762500" cy="476250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26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The system can act quickly because uncertainty is never hidden.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VERSIONED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Reviewer corrections become new evidence.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CONFLICT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Stale reviewer versions cannot overwrite newer work.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IMMUTABLE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Confirmation creates the incident snapshot.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BLOCKED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Launch is unavailable before confirmation.</a:t>
            </a:r>
          </a:p>
          <a:p>
            <a:pPr marL="0" indent="0" algn="l">
              <a:spcAft>
                <a:spcPts val="13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UNKNOWN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Unreadable shelf evidence escalates to review.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453BFDA-E0AD-4E01-84C6-838AD3437A2D}"/>
              </a:ext>
            </a:extLst>
          </p:cNvPr>
          <p:cNvSpPr>
            <a:spLocks noGrp="1"/>
          </p:cNvSpPr>
          <p:nvPr/>
        </p:nvSpPr>
        <p:spPr>
          <a:xfrm>
            <a:off x="6057900" y="1485900"/>
            <a:ext cx="2171700" cy="464820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78620" y="1504950"/>
            <a:ext cx="2130259" cy="4610100"/>
          </a:xfrm>
          <a:prstGeom prst="roundRect">
            <a:avLst>
              <a:gd name="adj" fmla="val 2679"/>
            </a:avLst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93B25FC-CB1F-49A4-BC60-6D2C589BB77E}"/>
              </a:ext>
            </a:extLst>
          </p:cNvPr>
          <p:cNvSpPr>
            <a:spLocks noGrp="1"/>
          </p:cNvSpPr>
          <p:nvPr/>
        </p:nvSpPr>
        <p:spPr>
          <a:xfrm>
            <a:off x="8553450" y="1638300"/>
            <a:ext cx="2667000" cy="381000"/>
          </a:xfrm>
          <a:prstGeom prst="roundRect">
            <a:avLst>
              <a:gd name="adj" fmla="val 15000"/>
            </a:avLst>
          </a:prstGeom>
          <a:solidFill>
            <a:srgbClr val="FFF3D6"/>
          </a:solidFill>
          <a:ln w="9525">
            <a:solidFill>
              <a:srgbClr val="EACB88"/>
            </a:solidFill>
            <a:prstDash val="solid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402B70-5C27-42D8-AA4D-014C43B13D7A}"/>
              </a:ext>
            </a:extLst>
          </p:cNvPr>
          <p:cNvSpPr>
            <a:spLocks noGrp="1"/>
          </p:cNvSpPr>
          <p:nvPr/>
        </p:nvSpPr>
        <p:spPr>
          <a:xfrm>
            <a:off x="8629650" y="1666875"/>
            <a:ext cx="251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C47A00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HUMAN EVIDENCE GATE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C511DFB-27AD-4220-A6B0-E272FF499C13}"/>
              </a:ext>
            </a:extLst>
          </p:cNvPr>
          <p:cNvSpPr>
            <a:spLocks noGrp="1"/>
          </p:cNvSpPr>
          <p:nvPr/>
        </p:nvSpPr>
        <p:spPr>
          <a:xfrm>
            <a:off x="8553450" y="2247900"/>
            <a:ext cx="2667000" cy="180975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4E912B-20BE-4A78-96CC-7C10364705D4}"/>
              </a:ext>
            </a:extLst>
          </p:cNvPr>
          <p:cNvSpPr>
            <a:spLocks noGrp="1"/>
          </p:cNvSpPr>
          <p:nvPr/>
        </p:nvSpPr>
        <p:spPr>
          <a:xfrm>
            <a:off x="8782050" y="2457450"/>
            <a:ext cx="22098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2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Neutral fallback</a:t>
            </a:r>
          </a:p>
          <a:p>
            <a:pPr marL="0" indent="0" algn="l">
              <a:spcAft>
                <a:spcPts val="8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Arbitrary images never become matches. Unknown evidence keeps provenance and requires review.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0788DD-A2F1-4683-902B-655D5D9802AC}"/>
              </a:ext>
            </a:extLst>
          </p:cNvPr>
          <p:cNvSpPr>
            <a:spLocks noGrp="1"/>
          </p:cNvSpPr>
          <p:nvPr/>
        </p:nvSpPr>
        <p:spPr>
          <a:xfrm>
            <a:off x="8553450" y="4248150"/>
            <a:ext cx="38100" cy="533400"/>
          </a:xfrm>
          <a:prstGeom prst="rect">
            <a:avLst/>
          </a:prstGeom>
          <a:solidFill>
            <a:srgbClr val="C47A00"/>
          </a:solidFill>
          <a:ln w="0">
            <a:solidFill>
              <a:srgbClr val="C47A00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AD469F-292A-48AF-964E-B5771E2384D9}"/>
              </a:ext>
            </a:extLst>
          </p:cNvPr>
          <p:cNvSpPr>
            <a:spLocks noGrp="1"/>
          </p:cNvSpPr>
          <p:nvPr/>
        </p:nvSpPr>
        <p:spPr>
          <a:xfrm>
            <a:off x="8686800" y="4248150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27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2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 warnings remain visible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C40047-B9A8-4028-9567-08BBB0D86D10}"/>
              </a:ext>
            </a:extLst>
          </p:cNvPr>
          <p:cNvSpPr>
            <a:spLocks noGrp="1"/>
          </p:cNvSpPr>
          <p:nvPr/>
        </p:nvSpPr>
        <p:spPr>
          <a:xfrm>
            <a:off x="8553450" y="5010150"/>
            <a:ext cx="38100" cy="53340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89060-8B33-4798-8745-70DA4ADA488F}"/>
              </a:ext>
            </a:extLst>
          </p:cNvPr>
          <p:cNvSpPr>
            <a:spLocks noGrp="1"/>
          </p:cNvSpPr>
          <p:nvPr/>
        </p:nvSpPr>
        <p:spPr>
          <a:xfrm>
            <a:off x="8686800" y="5010150"/>
            <a:ext cx="25336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27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0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1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 confirm to unlock launch</a:t>
            </a:r>
          </a:p>
        </p:txBody>
      </p:sp>
    </p:spTree>
    <p:extLst>
      <p:ext uri="{BB962C8B-B14F-4D97-AF65-F5344CB8AC3E}">
        <p14:creationId xmlns:p14="http://schemas.microsoft.com/office/powerpoint/2010/main" val="200148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A2C61-4A53-47E3-9FCA-06D533584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Qwen handles the uncertain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05989-85E0-400D-AE2A-A7ED24F6A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04950"/>
            <a:ext cx="4876800" cy="476250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26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Qwen reasons where literal rules are not enough.</a:t>
            </a:r>
          </a:p>
          <a:p>
            <a:pPr marL="0" indent="0" algn="l">
              <a:spcAft>
                <a:spcPts val="14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EXTRACT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Text and rendered-page recall evidence</a:t>
            </a:r>
          </a:p>
          <a:p>
            <a:pPr marL="0" indent="0" algn="l">
              <a:spcAft>
                <a:spcPts val="14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SEE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Shelf-image interpretation</a:t>
            </a:r>
          </a:p>
          <a:p>
            <a:pPr marL="0" indent="0" algn="l">
              <a:spcAft>
                <a:spcPts val="14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MATCH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Inventory reasoning across imperfect rows</a:t>
            </a:r>
          </a:p>
          <a:p>
            <a:pPr marL="0" indent="0" algn="l">
              <a:spcAft>
                <a:spcPts val="14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CLASSIFY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Operational risk</a:t>
            </a:r>
          </a:p>
          <a:p>
            <a:pPr marL="0" indent="0" algn="l">
              <a:spcAft>
                <a:spcPts val="14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WRITE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Customer communication</a:t>
            </a:r>
          </a:p>
          <a:p>
            <a:pPr marL="0" indent="0" algn="l">
              <a:spcAft>
                <a:spcPts val="14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BRIEF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Management decision summary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F58F10-B833-45D6-A4C6-DCD09A597C4A}"/>
              </a:ext>
            </a:extLst>
          </p:cNvPr>
          <p:cNvSpPr>
            <a:spLocks noGrp="1"/>
          </p:cNvSpPr>
          <p:nvPr/>
        </p:nvSpPr>
        <p:spPr>
          <a:xfrm>
            <a:off x="6400800" y="1581150"/>
            <a:ext cx="4381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24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Typed control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DF93E5-F517-407B-BE5B-ACF60E939C54}"/>
              </a:ext>
            </a:extLst>
          </p:cNvPr>
          <p:cNvSpPr>
            <a:spLocks noGrp="1"/>
          </p:cNvSpPr>
          <p:nvPr/>
        </p:nvSpPr>
        <p:spPr>
          <a:xfrm>
            <a:off x="6400800" y="2314575"/>
            <a:ext cx="304800" cy="1905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D1850C-6A41-4EF0-9D2E-B5ECC4EAAB42}"/>
              </a:ext>
            </a:extLst>
          </p:cNvPr>
          <p:cNvSpPr>
            <a:spLocks noGrp="1"/>
          </p:cNvSpPr>
          <p:nvPr/>
        </p:nvSpPr>
        <p:spPr>
          <a:xfrm>
            <a:off x="6819900" y="22479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01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 Structured JSON requests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3FF5431-F253-430E-AE31-48A8D0902D2D}"/>
              </a:ext>
            </a:extLst>
          </p:cNvPr>
          <p:cNvSpPr>
            <a:spLocks noGrp="1"/>
          </p:cNvSpPr>
          <p:nvPr/>
        </p:nvSpPr>
        <p:spPr>
          <a:xfrm>
            <a:off x="6400800" y="2828925"/>
            <a:ext cx="304800" cy="1905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B39180-4F82-4AF8-A8B8-E0C2B31186D7}"/>
              </a:ext>
            </a:extLst>
          </p:cNvPr>
          <p:cNvSpPr>
            <a:spLocks noGrp="1"/>
          </p:cNvSpPr>
          <p:nvPr/>
        </p:nvSpPr>
        <p:spPr>
          <a:xfrm>
            <a:off x="6819900" y="27622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02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 Pydantic validation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DD70E7-60DF-430D-A2CE-1BE5B04B669E}"/>
              </a:ext>
            </a:extLst>
          </p:cNvPr>
          <p:cNvSpPr>
            <a:spLocks noGrp="1"/>
          </p:cNvSpPr>
          <p:nvPr/>
        </p:nvSpPr>
        <p:spPr>
          <a:xfrm>
            <a:off x="6400800" y="3343275"/>
            <a:ext cx="304800" cy="1905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64CC38-21E4-4CA5-A442-2D1A7F9CD19F}"/>
              </a:ext>
            </a:extLst>
          </p:cNvPr>
          <p:cNvSpPr>
            <a:spLocks noGrp="1"/>
          </p:cNvSpPr>
          <p:nvPr/>
        </p:nvSpPr>
        <p:spPr>
          <a:xfrm>
            <a:off x="6819900" y="32766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03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 Explicit provider source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8EAF7E-AE18-45DC-833C-1365E8E02D1A}"/>
              </a:ext>
            </a:extLst>
          </p:cNvPr>
          <p:cNvSpPr>
            <a:spLocks noGrp="1"/>
          </p:cNvSpPr>
          <p:nvPr/>
        </p:nvSpPr>
        <p:spPr>
          <a:xfrm>
            <a:off x="6400800" y="3857625"/>
            <a:ext cx="304800" cy="1905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DC1967-4C2E-4D60-AFE6-D47D1E9602F6}"/>
              </a:ext>
            </a:extLst>
          </p:cNvPr>
          <p:cNvSpPr>
            <a:spLocks noGrp="1"/>
          </p:cNvSpPr>
          <p:nvPr/>
        </p:nvSpPr>
        <p:spPr>
          <a:xfrm>
            <a:off x="6819900" y="37909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04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 Bounded retries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88DBCD-53B4-4202-ADB1-93C756F8B48A}"/>
              </a:ext>
            </a:extLst>
          </p:cNvPr>
          <p:cNvSpPr>
            <a:spLocks noGrp="1"/>
          </p:cNvSpPr>
          <p:nvPr/>
        </p:nvSpPr>
        <p:spPr>
          <a:xfrm>
            <a:off x="6400800" y="4371975"/>
            <a:ext cx="304800" cy="1905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4D0DF8-1E3A-41F3-8AD6-EF422367595E}"/>
              </a:ext>
            </a:extLst>
          </p:cNvPr>
          <p:cNvSpPr>
            <a:spLocks noGrp="1"/>
          </p:cNvSpPr>
          <p:nvPr/>
        </p:nvSpPr>
        <p:spPr>
          <a:xfrm>
            <a:off x="6819900" y="43053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05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 Neutral or literal fallback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B22207-588B-46FA-9138-A9E601A2AD42}"/>
              </a:ext>
            </a:extLst>
          </p:cNvPr>
          <p:cNvSpPr>
            <a:spLocks noGrp="1"/>
          </p:cNvSpPr>
          <p:nvPr/>
        </p:nvSpPr>
        <p:spPr>
          <a:xfrm>
            <a:off x="6400800" y="4886325"/>
            <a:ext cx="304800" cy="19050"/>
          </a:xfrm>
          <a:prstGeom prst="rect">
            <a:avLst/>
          </a:prstGeom>
          <a:solidFill>
            <a:srgbClr val="087C72"/>
          </a:solidFill>
          <a:ln w="0">
            <a:solidFill>
              <a:srgbClr val="087C72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1C3F9F-F7EE-4348-A875-8377BA4D6FEE}"/>
              </a:ext>
            </a:extLst>
          </p:cNvPr>
          <p:cNvSpPr>
            <a:spLocks noGrp="1"/>
          </p:cNvSpPr>
          <p:nvPr/>
        </p:nvSpPr>
        <p:spPr>
          <a:xfrm>
            <a:off x="6819900" y="48196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5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06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 Reviewer escalation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8407D14-859C-47F8-9655-F4ADA43DA76E}"/>
              </a:ext>
            </a:extLst>
          </p:cNvPr>
          <p:cNvSpPr>
            <a:spLocks noGrp="1"/>
          </p:cNvSpPr>
          <p:nvPr/>
        </p:nvSpPr>
        <p:spPr>
          <a:xfrm>
            <a:off x="6400800" y="5486400"/>
            <a:ext cx="4762500" cy="647700"/>
          </a:xfrm>
          <a:prstGeom prst="roundRect">
            <a:avLst>
              <a:gd name="adj" fmla="val 8824"/>
            </a:avLst>
          </a:prstGeom>
          <a:solidFill>
            <a:srgbClr val="E6F3F1"/>
          </a:solidFill>
          <a:ln w="9525">
            <a:solidFill>
              <a:srgbClr val="B8DAD6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719FA1A-1CC5-46DF-85EB-48BDEA0F64D1}"/>
              </a:ext>
            </a:extLst>
          </p:cNvPr>
          <p:cNvSpPr>
            <a:spLocks noGrp="1"/>
          </p:cNvSpPr>
          <p:nvPr/>
        </p:nvSpPr>
        <p:spPr>
          <a:xfrm>
            <a:off x="6610350" y="5619750"/>
            <a:ext cx="4343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Qwen handles uncertainty. Typed systems decide what may enter the workflow.</a:t>
            </a:r>
          </a:p>
        </p:txBody>
      </p:sp>
    </p:spTree>
    <p:extLst>
      <p:ext uri="{BB962C8B-B14F-4D97-AF65-F5344CB8AC3E}">
        <p14:creationId xmlns:p14="http://schemas.microsoft.com/office/powerpoint/2010/main" val="2108647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16AC3-1E0A-46ED-BCD5-FBFE66B87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Nine specialists share one typed blackboard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F577C-6D71-40F0-83E0-AF935CCF5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04950"/>
            <a:ext cx="3048000" cy="472440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28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8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The Agent Society advances in six durable waves.</a:t>
            </a:r>
          </a:p>
          <a:p>
            <a:pPr marL="0" indent="0" algn="l">
              <a:spcAft>
                <a:spcPts val="16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9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specialist agents</a:t>
            </a:r>
          </a:p>
          <a:p>
            <a:pPr marL="0" indent="0" algn="l">
              <a:spcAft>
                <a:spcPts val="26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850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6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typed waves</a:t>
            </a:r>
          </a:p>
          <a:p>
            <a:pPr marL="0" indent="0" algn="l">
              <a:spcAft>
                <a:spcPts val="16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Independent specialists run in parallel inside a wave.</a:t>
            </a:r>
          </a:p>
          <a:p>
            <a:pPr marL="0" indent="0" algn="l">
              <a:spcAft>
                <a:spcPts val="16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Each wave writes a checkpoint before the next one begins.</a:t>
            </a:r>
          </a:p>
          <a:p>
            <a:pPr marL="0" indent="0" algn="l">
              <a:spcAft>
                <a:spcPts val="16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Failure skips only dependent work, preserving useful results.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8C45FE-4C21-4C0C-9FEC-303D488C56F5}"/>
              </a:ext>
            </a:extLst>
          </p:cNvPr>
          <p:cNvSpPr>
            <a:spLocks noGrp="1"/>
          </p:cNvSpPr>
          <p:nvPr/>
        </p:nvSpPr>
        <p:spPr>
          <a:xfrm>
            <a:off x="4191000" y="1485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5B6F6A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W1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924EAC-8C64-40C0-9DD6-3C0D8FE5E04F}"/>
              </a:ext>
            </a:extLst>
          </p:cNvPr>
          <p:cNvSpPr>
            <a:spLocks noGrp="1"/>
          </p:cNvSpPr>
          <p:nvPr/>
        </p:nvSpPr>
        <p:spPr>
          <a:xfrm>
            <a:off x="5391150" y="1485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5B6F6A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W2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5A7024-9573-4F22-99E5-DF5B2DD84824}"/>
              </a:ext>
            </a:extLst>
          </p:cNvPr>
          <p:cNvSpPr>
            <a:spLocks noGrp="1"/>
          </p:cNvSpPr>
          <p:nvPr/>
        </p:nvSpPr>
        <p:spPr>
          <a:xfrm>
            <a:off x="6591300" y="1485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5B6F6A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W3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D7D90-EEC2-482E-92FA-AB1362BD713D}"/>
              </a:ext>
            </a:extLst>
          </p:cNvPr>
          <p:cNvSpPr>
            <a:spLocks noGrp="1"/>
          </p:cNvSpPr>
          <p:nvPr/>
        </p:nvSpPr>
        <p:spPr>
          <a:xfrm>
            <a:off x="7791450" y="1485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5B6F6A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W4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6E7676-4D0B-4B20-9454-4B73622741E8}"/>
              </a:ext>
            </a:extLst>
          </p:cNvPr>
          <p:cNvSpPr>
            <a:spLocks noGrp="1"/>
          </p:cNvSpPr>
          <p:nvPr/>
        </p:nvSpPr>
        <p:spPr>
          <a:xfrm>
            <a:off x="8991600" y="1485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5B6F6A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W5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78E09B-950D-4CB3-828C-1CF1A1128D7A}"/>
              </a:ext>
            </a:extLst>
          </p:cNvPr>
          <p:cNvSpPr>
            <a:spLocks noGrp="1"/>
          </p:cNvSpPr>
          <p:nvPr/>
        </p:nvSpPr>
        <p:spPr>
          <a:xfrm>
            <a:off x="10134600" y="1485900"/>
            <a:ext cx="1028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5B6F6A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W6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97120C-0F62-42CF-B058-9A9F0FF3C1D8}"/>
              </a:ext>
            </a:extLst>
          </p:cNvPr>
          <p:cNvSpPr>
            <a:spLocks noGrp="1"/>
          </p:cNvSpPr>
          <p:nvPr/>
        </p:nvSpPr>
        <p:spPr>
          <a:xfrm>
            <a:off x="4191000" y="2228850"/>
            <a:ext cx="1123950" cy="7429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Recall
Intake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4EB2DD4-91F9-4336-BACB-3B01CBF5A853}"/>
              </a:ext>
            </a:extLst>
          </p:cNvPr>
          <p:cNvSpPr>
            <a:spLocks noGrp="1"/>
          </p:cNvSpPr>
          <p:nvPr/>
        </p:nvSpPr>
        <p:spPr>
          <a:xfrm>
            <a:off x="5391150" y="2228850"/>
            <a:ext cx="1123950" cy="7429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Document
Extraction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7AE87B7-3E66-4CDB-96B4-9DEA512F825F}"/>
              </a:ext>
            </a:extLst>
          </p:cNvPr>
          <p:cNvSpPr>
            <a:spLocks noGrp="1"/>
          </p:cNvSpPr>
          <p:nvPr/>
        </p:nvSpPr>
        <p:spPr>
          <a:xfrm>
            <a:off x="6591300" y="1847850"/>
            <a:ext cx="1123950" cy="666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Inventory
Matching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87540BF-A338-461E-BE92-A7B817B7B5C7}"/>
              </a:ext>
            </a:extLst>
          </p:cNvPr>
          <p:cNvSpPr>
            <a:spLocks noGrp="1"/>
          </p:cNvSpPr>
          <p:nvPr/>
        </p:nvSpPr>
        <p:spPr>
          <a:xfrm>
            <a:off x="6591300" y="2647950"/>
            <a:ext cx="1123950" cy="666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C47A00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Shelf
Vision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74E5D12-00C3-442D-B8E8-CA47C9A81AFD}"/>
              </a:ext>
            </a:extLst>
          </p:cNvPr>
          <p:cNvSpPr>
            <a:spLocks noGrp="1"/>
          </p:cNvSpPr>
          <p:nvPr/>
        </p:nvSpPr>
        <p:spPr>
          <a:xfrm>
            <a:off x="7791450" y="1847850"/>
            <a:ext cx="1123950" cy="666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B42318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Risk
Scoring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2E1D594-FD99-4725-8562-65A477B44C3B}"/>
              </a:ext>
            </a:extLst>
          </p:cNvPr>
          <p:cNvSpPr>
            <a:spLocks noGrp="1"/>
          </p:cNvSpPr>
          <p:nvPr/>
        </p:nvSpPr>
        <p:spPr>
          <a:xfrm>
            <a:off x="7791450" y="2647950"/>
            <a:ext cx="1123950" cy="666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Memory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C6839B-8B82-4AB3-BF27-E8A9E56908E0}"/>
              </a:ext>
            </a:extLst>
          </p:cNvPr>
          <p:cNvSpPr>
            <a:spLocks noGrp="1"/>
          </p:cNvSpPr>
          <p:nvPr/>
        </p:nvSpPr>
        <p:spPr>
          <a:xfrm>
            <a:off x="8991600" y="1847850"/>
            <a:ext cx="1047750" cy="666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Ops
Task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2511023-5735-4430-836F-0DBA1568D3E4}"/>
              </a:ext>
            </a:extLst>
          </p:cNvPr>
          <p:cNvSpPr>
            <a:spLocks noGrp="1"/>
          </p:cNvSpPr>
          <p:nvPr/>
        </p:nvSpPr>
        <p:spPr>
          <a:xfrm>
            <a:off x="8991600" y="2647950"/>
            <a:ext cx="1047750" cy="66675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Comms
Agent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79550DB-BFB9-4C5F-AF30-ACBAF9A54276}"/>
              </a:ext>
            </a:extLst>
          </p:cNvPr>
          <p:cNvSpPr>
            <a:spLocks noGrp="1"/>
          </p:cNvSpPr>
          <p:nvPr/>
        </p:nvSpPr>
        <p:spPr>
          <a:xfrm>
            <a:off x="10134600" y="2228850"/>
            <a:ext cx="1352550" cy="742950"/>
          </a:xfrm>
          <a:prstGeom prst="roundRect">
            <a:avLst>
              <a:gd name="adj" fmla="val 7692"/>
            </a:avLst>
          </a:prstGeom>
          <a:solidFill>
            <a:srgbClr val="0B3D38"/>
          </a:solidFill>
          <a:ln w="9525">
            <a:solidFill>
              <a:srgbClr val="0B3D38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Compliance
Evidence</a:t>
            </a:r>
          </a:p>
        </p:txBody>
      </p:sp>
      <p:cxnSp>
        <p:nvCxnSpPr>
          <p:cNvPr id="52" name="Straight Arrow Connector 51"/>
          <p:cNvCxnSpPr>
            <a:stCxn id="10" idx="3"/>
            <a:endCxn id="11" idx="1"/>
          </p:cNvCxnSpPr>
          <p:nvPr/>
        </p:nvCxnSpPr>
        <p:spPr>
          <a:xfrm>
            <a:off x="5314950" y="2600325"/>
            <a:ext cx="7620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3" name="Elbow Connector 52"/>
          <p:cNvCxnSpPr>
            <a:stCxn id="11" idx="3"/>
            <a:endCxn id="12" idx="1"/>
          </p:cNvCxnSpPr>
          <p:nvPr/>
        </p:nvCxnSpPr>
        <p:spPr>
          <a:xfrm flipV="1">
            <a:off x="6515100" y="2181225"/>
            <a:ext cx="76200" cy="419100"/>
          </a:xfrm>
          <a:prstGeom prst="bentConnector3">
            <a:avLst>
              <a:gd name="adj1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4" name="Elbow Connector 53"/>
          <p:cNvCxnSpPr>
            <a:stCxn id="11" idx="3"/>
            <a:endCxn id="13" idx="1"/>
          </p:cNvCxnSpPr>
          <p:nvPr/>
        </p:nvCxnSpPr>
        <p:spPr>
          <a:xfrm>
            <a:off x="6515100" y="2600325"/>
            <a:ext cx="76200" cy="381000"/>
          </a:xfrm>
          <a:prstGeom prst="bentConnector3">
            <a:avLst>
              <a:gd name="adj1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5" name="Straight Arrow Connector 54"/>
          <p:cNvCxnSpPr>
            <a:stCxn id="12" idx="3"/>
            <a:endCxn id="14" idx="1"/>
          </p:cNvCxnSpPr>
          <p:nvPr/>
        </p:nvCxnSpPr>
        <p:spPr>
          <a:xfrm>
            <a:off x="7715250" y="2181225"/>
            <a:ext cx="7620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6" name="Elbow Connector 55"/>
          <p:cNvCxnSpPr>
            <a:stCxn id="12" idx="3"/>
            <a:endCxn id="15" idx="1"/>
          </p:cNvCxnSpPr>
          <p:nvPr/>
        </p:nvCxnSpPr>
        <p:spPr>
          <a:xfrm>
            <a:off x="7715250" y="2181225"/>
            <a:ext cx="76200" cy="800100"/>
          </a:xfrm>
          <a:prstGeom prst="bentConnector3">
            <a:avLst>
              <a:gd name="adj1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7" name="Elbow Connector 56"/>
          <p:cNvCxnSpPr>
            <a:stCxn id="13" idx="3"/>
            <a:endCxn id="14" idx="1"/>
          </p:cNvCxnSpPr>
          <p:nvPr/>
        </p:nvCxnSpPr>
        <p:spPr>
          <a:xfrm flipV="1">
            <a:off x="7715250" y="2181225"/>
            <a:ext cx="76200" cy="800100"/>
          </a:xfrm>
          <a:prstGeom prst="bentConnector3">
            <a:avLst>
              <a:gd name="adj1" fmla="val 50000"/>
            </a:avLst>
          </a:prstGeom>
          <a:ln w="19050">
            <a:solidFill>
              <a:srgbClr val="D7B56D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8" name="Straight Arrow Connector 57"/>
          <p:cNvCxnSpPr>
            <a:stCxn id="14" idx="3"/>
            <a:endCxn id="16" idx="1"/>
          </p:cNvCxnSpPr>
          <p:nvPr/>
        </p:nvCxnSpPr>
        <p:spPr>
          <a:xfrm>
            <a:off x="8915400" y="2181225"/>
            <a:ext cx="7620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59" name="Elbow Connector 58"/>
          <p:cNvCxnSpPr>
            <a:stCxn id="14" idx="3"/>
            <a:endCxn id="17" idx="1"/>
          </p:cNvCxnSpPr>
          <p:nvPr/>
        </p:nvCxnSpPr>
        <p:spPr>
          <a:xfrm>
            <a:off x="8915400" y="2181225"/>
            <a:ext cx="76200" cy="800100"/>
          </a:xfrm>
          <a:prstGeom prst="bentConnector3">
            <a:avLst>
              <a:gd name="adj1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0" name="Elbow Connector 59"/>
          <p:cNvCxnSpPr>
            <a:stCxn id="15" idx="3"/>
            <a:endCxn id="16" idx="1"/>
          </p:cNvCxnSpPr>
          <p:nvPr/>
        </p:nvCxnSpPr>
        <p:spPr>
          <a:xfrm flipV="1">
            <a:off x="8915400" y="2181225"/>
            <a:ext cx="76200" cy="800100"/>
          </a:xfrm>
          <a:prstGeom prst="bentConnector3">
            <a:avLst>
              <a:gd name="adj1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1" name="Straight Arrow Connector 60"/>
          <p:cNvCxnSpPr>
            <a:stCxn id="15" idx="3"/>
            <a:endCxn id="17" idx="1"/>
          </p:cNvCxnSpPr>
          <p:nvPr/>
        </p:nvCxnSpPr>
        <p:spPr>
          <a:xfrm>
            <a:off x="8915400" y="2981325"/>
            <a:ext cx="7620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2" name="Elbow Connector 61"/>
          <p:cNvCxnSpPr>
            <a:stCxn id="16" idx="3"/>
            <a:endCxn id="18" idx="1"/>
          </p:cNvCxnSpPr>
          <p:nvPr/>
        </p:nvCxnSpPr>
        <p:spPr>
          <a:xfrm>
            <a:off x="10039350" y="2181225"/>
            <a:ext cx="95250" cy="419100"/>
          </a:xfrm>
          <a:prstGeom prst="bentConnector3">
            <a:avLst>
              <a:gd name="adj1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63" name="Elbow Connector 62"/>
          <p:cNvCxnSpPr>
            <a:stCxn id="17" idx="3"/>
            <a:endCxn id="18" idx="1"/>
          </p:cNvCxnSpPr>
          <p:nvPr/>
        </p:nvCxnSpPr>
        <p:spPr>
          <a:xfrm flipV="1">
            <a:off x="10039350" y="2600325"/>
            <a:ext cx="95250" cy="381000"/>
          </a:xfrm>
          <a:prstGeom prst="bentConnector3">
            <a:avLst>
              <a:gd name="adj1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103546EC-7522-4457-83A7-B598182BC3CC}"/>
              </a:ext>
            </a:extLst>
          </p:cNvPr>
          <p:cNvSpPr>
            <a:spLocks noGrp="1"/>
          </p:cNvSpPr>
          <p:nvPr/>
        </p:nvSpPr>
        <p:spPr>
          <a:xfrm>
            <a:off x="4286250" y="3562350"/>
            <a:ext cx="2190750" cy="361950"/>
          </a:xfrm>
          <a:prstGeom prst="roundRect">
            <a:avLst>
              <a:gd name="adj" fmla="val 15789"/>
            </a:avLst>
          </a:prstGeom>
          <a:solidFill>
            <a:srgbClr val="E6F3F1"/>
          </a:solidFill>
          <a:ln w="9525">
            <a:solidFill>
              <a:srgbClr val="E6F3F1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EB4C30-C710-43CD-8D64-8ED7E27B4CFB}"/>
              </a:ext>
            </a:extLst>
          </p:cNvPr>
          <p:cNvSpPr>
            <a:spLocks noGrp="1"/>
          </p:cNvSpPr>
          <p:nvPr/>
        </p:nvSpPr>
        <p:spPr>
          <a:xfrm>
            <a:off x="4362450" y="3590925"/>
            <a:ext cx="2038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975" b="1">
                <a:solidFill>
                  <a:srgbClr val="087C72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MISSION CONTROL</a:t>
            </a: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F5F19F14-77AD-4651-ACAF-EA0426689665}"/>
              </a:ext>
            </a:extLst>
          </p:cNvPr>
          <p:cNvSpPr>
            <a:spLocks noGrp="1"/>
          </p:cNvSpPr>
          <p:nvPr/>
        </p:nvSpPr>
        <p:spPr>
          <a:xfrm>
            <a:off x="4267200" y="3981450"/>
            <a:ext cx="6972300" cy="2152650"/>
          </a:xfrm>
          <a:prstGeom prst="roundRect">
            <a:avLst>
              <a:gd name="adj" fmla="val 2655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67" name="Picture 66"/>
          <p:cNvPicPr>
            <a:picLocks noChangeAspect="1"/>
          </p:cNvPicPr>
          <p:nvPr/>
        </p:nvPicPr>
        <p:blipFill>
          <a:blip r:embed="rId3"/>
          <a:srcRect t="32652" b="32652"/>
          <a:stretch>
            <a:fillRect/>
          </a:stretch>
        </p:blipFill>
        <p:spPr>
          <a:xfrm>
            <a:off x="4286250" y="4000500"/>
            <a:ext cx="6934200" cy="2114550"/>
          </a:xfrm>
          <a:prstGeom prst="roundRect">
            <a:avLst>
              <a:gd name="adj" fmla="val 2703"/>
            </a:avLst>
          </a:prstGeom>
        </p:spPr>
      </p:pic>
    </p:spTree>
    <p:extLst>
      <p:ext uri="{BB962C8B-B14F-4D97-AF65-F5344CB8AC3E}">
        <p14:creationId xmlns:p14="http://schemas.microsoft.com/office/powerpoint/2010/main" val="4673470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BD6AE-8ADB-4D5F-A80E-545FA590A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Every event survives before it appears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86F71-5261-4A18-B921-541BF4FE7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04950"/>
            <a:ext cx="3105150" cy="472440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26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Durability is split by responsibility, not hidden in one database box.</a:t>
            </a:r>
          </a:p>
          <a:p>
            <a:pPr marL="0" indent="0" algn="l">
              <a:spcAft>
                <a:spcPts val="15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IDEMPOTENT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Request UUIDs prevent duplicate runs.</a:t>
            </a:r>
          </a:p>
          <a:p>
            <a:pPr marL="0" indent="0" algn="l">
              <a:spcAft>
                <a:spcPts val="15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ORDERED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Events persist before SSE publishes.</a:t>
            </a:r>
          </a:p>
          <a:p>
            <a:pPr marL="0" indent="0" algn="l">
              <a:spcAft>
                <a:spcPts val="15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REPLAYABLE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Refresh resumes ordered history.</a:t>
            </a:r>
          </a:p>
          <a:p>
            <a:pPr marL="0" indent="0" algn="l">
              <a:spcAft>
                <a:spcPts val="15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RESUMABLE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Typed wave checkpoints restart safely.</a:t>
            </a:r>
          </a:p>
          <a:p>
            <a:pPr marL="0" indent="0" algn="l">
              <a:spcAft>
                <a:spcPts val="15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RECOVERED</a:t>
            </a: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 Startup repairs non-terminal work.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166035D-C56F-4C67-A3F9-C2DFCF839F34}"/>
              </a:ext>
            </a:extLst>
          </p:cNvPr>
          <p:cNvSpPr>
            <a:spLocks noGrp="1"/>
          </p:cNvSpPr>
          <p:nvPr/>
        </p:nvSpPr>
        <p:spPr>
          <a:xfrm>
            <a:off x="4400550" y="1809750"/>
            <a:ext cx="1257300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Intake API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2ACAEE-0E63-477E-B76C-9FC086EE9D0B}"/>
              </a:ext>
            </a:extLst>
          </p:cNvPr>
          <p:cNvSpPr>
            <a:spLocks noGrp="1"/>
          </p:cNvSpPr>
          <p:nvPr/>
        </p:nvSpPr>
        <p:spPr>
          <a:xfrm>
            <a:off x="6210300" y="17335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0B3D38"/>
          </a:solidFill>
          <a:ln w="9525">
            <a:solidFill>
              <a:srgbClr val="0B3D38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
Orchestrator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67C40DC-3536-4CAF-AF6D-917696AE6C9A}"/>
              </a:ext>
            </a:extLst>
          </p:cNvPr>
          <p:cNvSpPr>
            <a:spLocks noGrp="1"/>
          </p:cNvSpPr>
          <p:nvPr/>
        </p:nvSpPr>
        <p:spPr>
          <a:xfrm>
            <a:off x="8115300" y="17335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Ordered
SSE stream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1553C9D-8AD8-46E2-8062-8F9B21E0BF91}"/>
              </a:ext>
            </a:extLst>
          </p:cNvPr>
          <p:cNvSpPr>
            <a:spLocks noGrp="1"/>
          </p:cNvSpPr>
          <p:nvPr/>
        </p:nvSpPr>
        <p:spPr>
          <a:xfrm>
            <a:off x="10020300" y="1733550"/>
            <a:ext cx="1352550" cy="704850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Mission
Control</a:t>
            </a:r>
          </a:p>
        </p:txBody>
      </p:sp>
      <p:cxnSp>
        <p:nvCxnSpPr>
          <p:cNvPr id="28" name="Straight Arrow Connector 27"/>
          <p:cNvCxnSpPr>
            <a:stCxn id="4" idx="3"/>
            <a:endCxn id="5" idx="1"/>
          </p:cNvCxnSpPr>
          <p:nvPr/>
        </p:nvCxnSpPr>
        <p:spPr>
          <a:xfrm>
            <a:off x="5657850" y="2085975"/>
            <a:ext cx="55245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9" name="Straight Arrow Connector 28"/>
          <p:cNvCxnSpPr>
            <a:stCxn id="5" idx="3"/>
            <a:endCxn id="6" idx="1"/>
          </p:cNvCxnSpPr>
          <p:nvPr/>
        </p:nvCxnSpPr>
        <p:spPr>
          <a:xfrm>
            <a:off x="7562850" y="2085975"/>
            <a:ext cx="55245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30" name="Straight Arrow Connector 29"/>
          <p:cNvCxnSpPr>
            <a:stCxn id="6" idx="3"/>
            <a:endCxn id="7" idx="1"/>
          </p:cNvCxnSpPr>
          <p:nvPr/>
        </p:nvCxnSpPr>
        <p:spPr>
          <a:xfrm>
            <a:off x="9467850" y="2085975"/>
            <a:ext cx="55245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2599DF84-8704-49DA-B176-532FB03EC8A2}"/>
              </a:ext>
            </a:extLst>
          </p:cNvPr>
          <p:cNvSpPr>
            <a:spLocks noGrp="1"/>
          </p:cNvSpPr>
          <p:nvPr/>
        </p:nvSpPr>
        <p:spPr>
          <a:xfrm>
            <a:off x="7543800" y="1352550"/>
            <a:ext cx="2476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975" b="1">
                <a:solidFill>
                  <a:srgbClr val="087C72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PERSIST BEFORE SSE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F37230F-3944-4E52-B47C-180B070731EA}"/>
              </a:ext>
            </a:extLst>
          </p:cNvPr>
          <p:cNvSpPr>
            <a:spLocks noGrp="1"/>
          </p:cNvSpPr>
          <p:nvPr/>
        </p:nvSpPr>
        <p:spPr>
          <a:xfrm>
            <a:off x="4324350" y="3524250"/>
            <a:ext cx="1600200" cy="12382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87C72"/>
            </a:solidFill>
            <a:prstDash val="solid"/>
          </a:ln>
        </p:spPr>
        <p:txBody>
          <a:bodyPr wrap="square" lIns="95250" tIns="95250" rIns="95250" bIns="95250" anchor="ctr">
            <a:noAutofit/>
          </a:bodyPr>
          <a:lstStyle/>
          <a:p>
            <a:pPr marL="0" indent="0" algn="ctr">
              <a:spcAft>
                <a:spcPts val="1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Intake</a:t>
            </a:r>
          </a:p>
          <a:p>
            <a:pPr marL="0" indent="0" algn="ctr">
              <a:spcAft>
                <a:spcPts val="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Lifecycle + snapshots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97C85DA-7912-4D31-932C-5C69C385FBA0}"/>
              </a:ext>
            </a:extLst>
          </p:cNvPr>
          <p:cNvSpPr>
            <a:spLocks noGrp="1"/>
          </p:cNvSpPr>
          <p:nvPr/>
        </p:nvSpPr>
        <p:spPr>
          <a:xfrm>
            <a:off x="6096000" y="3524250"/>
            <a:ext cx="1600200" cy="12382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C47A00"/>
            </a:solidFill>
            <a:prstDash val="solid"/>
          </a:ln>
        </p:spPr>
        <p:txBody>
          <a:bodyPr wrap="square" lIns="95250" tIns="95250" rIns="95250" bIns="95250" anchor="ctr">
            <a:noAutofit/>
          </a:bodyPr>
          <a:lstStyle/>
          <a:p>
            <a:pPr marL="0" indent="0" algn="ctr">
              <a:spcAft>
                <a:spcPts val="1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Artifacts</a:t>
            </a:r>
          </a:p>
          <a:p>
            <a:pPr marL="0" indent="0" algn="ctr">
              <a:spcAft>
                <a:spcPts val="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Immutable evidence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CC6947-B136-4638-BEA5-49B6CACD1329}"/>
              </a:ext>
            </a:extLst>
          </p:cNvPr>
          <p:cNvSpPr>
            <a:spLocks noGrp="1"/>
          </p:cNvSpPr>
          <p:nvPr/>
        </p:nvSpPr>
        <p:spPr>
          <a:xfrm>
            <a:off x="7867650" y="3524250"/>
            <a:ext cx="1600200" cy="12382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087C72"/>
            </a:solidFill>
            <a:prstDash val="solid"/>
          </a:ln>
        </p:spPr>
        <p:txBody>
          <a:bodyPr wrap="square" lIns="95250" tIns="95250" rIns="95250" bIns="95250" anchor="ctr">
            <a:noAutofit/>
          </a:bodyPr>
          <a:lstStyle/>
          <a:p>
            <a:pPr marL="0" indent="0" algn="ctr">
              <a:spcAft>
                <a:spcPts val="1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Run ledger</a:t>
            </a:r>
          </a:p>
          <a:p>
            <a:pPr marL="0" indent="0" algn="ctr">
              <a:spcAft>
                <a:spcPts val="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Events + checkpoints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358669B-01AC-4F69-BD42-29824480529A}"/>
              </a:ext>
            </a:extLst>
          </p:cNvPr>
          <p:cNvSpPr>
            <a:spLocks noGrp="1"/>
          </p:cNvSpPr>
          <p:nvPr/>
        </p:nvSpPr>
        <p:spPr>
          <a:xfrm>
            <a:off x="9639300" y="3524250"/>
            <a:ext cx="1600200" cy="123825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9050">
            <a:solidFill>
              <a:srgbClr val="B42318"/>
            </a:solidFill>
            <a:prstDash val="solid"/>
          </a:ln>
        </p:spPr>
        <p:txBody>
          <a:bodyPr wrap="square" lIns="95250" tIns="95250" rIns="95250" bIns="95250" anchor="ctr">
            <a:noAutofit/>
          </a:bodyPr>
          <a:lstStyle/>
          <a:p>
            <a:pPr marL="0" indent="0" algn="ctr">
              <a:spcAft>
                <a:spcPts val="1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Memory</a:t>
            </a:r>
          </a:p>
          <a:p>
            <a:pPr marL="0" indent="0" algn="ctr">
              <a:spcAft>
                <a:spcPts val="0"/>
              </a:spcAft>
              <a:buNone/>
              <a:defRPr sz="11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Review ledger</a:t>
            </a:r>
          </a:p>
        </p:txBody>
      </p:sp>
      <p:cxnSp>
        <p:nvCxnSpPr>
          <p:cNvPr id="36" name="Elbow Connector 35"/>
          <p:cNvCxnSpPr>
            <a:stCxn id="4" idx="2"/>
            <a:endCxn id="12" idx="0"/>
          </p:cNvCxnSpPr>
          <p:nvPr/>
        </p:nvCxnSpPr>
        <p:spPr>
          <a:xfrm>
            <a:off x="5029200" y="2362200"/>
            <a:ext cx="95250" cy="11620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37" name="Elbow Connector 36"/>
          <p:cNvCxnSpPr>
            <a:stCxn id="4" idx="2"/>
            <a:endCxn id="13" idx="0"/>
          </p:cNvCxnSpPr>
          <p:nvPr/>
        </p:nvCxnSpPr>
        <p:spPr>
          <a:xfrm>
            <a:off x="5029200" y="2362200"/>
            <a:ext cx="1866900" cy="11620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D7B56D"/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38" name="Elbow Connector 37"/>
          <p:cNvCxnSpPr>
            <a:stCxn id="5" idx="2"/>
            <a:endCxn id="14" idx="0"/>
          </p:cNvCxnSpPr>
          <p:nvPr/>
        </p:nvCxnSpPr>
        <p:spPr>
          <a:xfrm>
            <a:off x="6886575" y="2438400"/>
            <a:ext cx="1781175" cy="1085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D6E3DF"/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39" name="Elbow Connector 38"/>
          <p:cNvCxnSpPr>
            <a:stCxn id="5" idx="2"/>
            <a:endCxn id="15" idx="0"/>
          </p:cNvCxnSpPr>
          <p:nvPr/>
        </p:nvCxnSpPr>
        <p:spPr>
          <a:xfrm>
            <a:off x="6886575" y="2438400"/>
            <a:ext cx="3552825" cy="10858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D9A39E"/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75A0D4E-DC82-4124-AC71-82CF3F348988}"/>
              </a:ext>
            </a:extLst>
          </p:cNvPr>
          <p:cNvSpPr>
            <a:spLocks noGrp="1"/>
          </p:cNvSpPr>
          <p:nvPr/>
        </p:nvSpPr>
        <p:spPr>
          <a:xfrm>
            <a:off x="4324350" y="5105400"/>
            <a:ext cx="6915150" cy="704850"/>
          </a:xfrm>
          <a:prstGeom prst="roundRect">
            <a:avLst>
              <a:gd name="adj" fmla="val 8108"/>
            </a:avLst>
          </a:prstGeom>
          <a:solidFill>
            <a:srgbClr val="FFF3D6"/>
          </a:solidFill>
          <a:ln w="9525">
            <a:solidFill>
              <a:srgbClr val="EACB88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CF99F3-D05B-405C-841F-9BD4C331D29D}"/>
              </a:ext>
            </a:extLst>
          </p:cNvPr>
          <p:cNvSpPr>
            <a:spLocks noGrp="1"/>
          </p:cNvSpPr>
          <p:nvPr/>
        </p:nvSpPr>
        <p:spPr>
          <a:xfrm>
            <a:off x="4552950" y="5257800"/>
            <a:ext cx="6457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20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Current SQLite lifecycle: one API replica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  Honest scope today; repositories preserve a clean path to distributed storage.</a:t>
            </a:r>
          </a:p>
        </p:txBody>
      </p:sp>
    </p:spTree>
    <p:extLst>
      <p:ext uri="{BB962C8B-B14F-4D97-AF65-F5344CB8AC3E}">
        <p14:creationId xmlns:p14="http://schemas.microsoft.com/office/powerpoint/2010/main" val="1551165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E9728-6A1D-424E-8DE9-74AC0CEEF3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The DAG earns its complexity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A32D6-BDE7-4FCA-8DA4-2791F6663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466850"/>
            <a:ext cx="3105150" cy="428625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7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390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1.49x</a:t>
            </a:r>
            <a:r>
              <a:rPr sz="1875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 faster</a:t>
            </a:r>
          </a:p>
          <a:p>
            <a:pPr marL="0" indent="0" algn="l">
              <a:spcAft>
                <a:spcPts val="30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1095.3 ms  vs  1633.9 ms</a:t>
            </a:r>
          </a:p>
          <a:p>
            <a:pPr marL="0" indent="0" algn="l">
              <a:spcAft>
                <a:spcPts val="6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VISION FAILURE</a:t>
            </a:r>
          </a:p>
          <a:p>
            <a:pPr marL="0" indent="0" algn="l">
              <a:spcAft>
                <a:spcPts val="6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4/9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agents still complete</a:t>
            </a:r>
          </a:p>
          <a:p>
            <a:pPr marL="0" indent="0" algn="l">
              <a:spcAft>
                <a:spcPts val="26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Sequential baseline aborts after 3/9.</a:t>
            </a:r>
          </a:p>
          <a:p>
            <a:pPr marL="0" indent="0" algn="l">
              <a:spcAft>
                <a:spcPts val="6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CRASH RECOVERY</a:t>
            </a:r>
          </a:p>
          <a:p>
            <a:pPr marL="0" indent="0" algn="l">
              <a:spcAft>
                <a:spcPts val="6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2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3/9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agents rerun</a:t>
            </a:r>
          </a:p>
          <a:p>
            <a:pPr marL="0" indent="0" algn="l">
              <a:spcAft>
                <a:spcPts val="12"/>
              </a:spcAft>
              <a:buNone/>
              <a:defRPr sz="13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Sequential baseline reruns 9/9.</a:t>
            </a:r>
          </a:p>
        </p:txBody>
      </p:sp>
      <p:graphicFrame>
        <p:nvGraphicFramePr>
          <p:cNvPr id="12" name="Chart"/>
          <p:cNvGraphicFramePr/>
          <p:nvPr/>
        </p:nvGraphicFramePr>
        <p:xfrm>
          <a:off x="4438650" y="1714500"/>
          <a:ext cx="6800850" cy="2571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D38064AF-3161-4F50-A55F-09CDEBF750D2}"/>
              </a:ext>
            </a:extLst>
          </p:cNvPr>
          <p:cNvSpPr>
            <a:spLocks noGrp="1"/>
          </p:cNvSpPr>
          <p:nvPr/>
        </p:nvSpPr>
        <p:spPr>
          <a:xfrm>
            <a:off x="5905500" y="27241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Sequential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3366A2-1BE4-4465-95B8-EF7DFFEEF29C}"/>
              </a:ext>
            </a:extLst>
          </p:cNvPr>
          <p:cNvSpPr>
            <a:spLocks noGrp="1"/>
          </p:cNvSpPr>
          <p:nvPr/>
        </p:nvSpPr>
        <p:spPr>
          <a:xfrm>
            <a:off x="5905500" y="3429000"/>
            <a:ext cx="2057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 Society DAG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C1B1DE9-3BC6-4564-8D2C-BF39C8CC2CC8}"/>
              </a:ext>
            </a:extLst>
          </p:cNvPr>
          <p:cNvSpPr>
            <a:spLocks noGrp="1"/>
          </p:cNvSpPr>
          <p:nvPr/>
        </p:nvSpPr>
        <p:spPr>
          <a:xfrm>
            <a:off x="4438650" y="4533900"/>
            <a:ext cx="6800850" cy="1066800"/>
          </a:xfrm>
          <a:prstGeom prst="roundRect">
            <a:avLst>
              <a:gd name="adj" fmla="val 5357"/>
            </a:avLst>
          </a:prstGeom>
          <a:solidFill>
            <a:srgbClr val="E6F3F1"/>
          </a:solidFill>
          <a:ln w="9525">
            <a:solidFill>
              <a:srgbClr val="B8DAD6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1ABE88-EF26-45AE-B44E-CC64D5FC47DC}"/>
              </a:ext>
            </a:extLst>
          </p:cNvPr>
          <p:cNvSpPr>
            <a:spLocks noGrp="1"/>
          </p:cNvSpPr>
          <p:nvPr/>
        </p:nvSpPr>
        <p:spPr>
          <a:xfrm>
            <a:off x="4686300" y="4772025"/>
            <a:ext cx="63055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Parallel work improves speed without giving up useful partial results or restart efficiency.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C0CBEB-6D82-4EB3-A486-3F3A18F28218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553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650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Deterministic fallback benchmark. Both arms use the same synthetic 180 ms delay per agent to isolate orchestration strategy from provider latency.</a:t>
            </a:r>
          </a:p>
        </p:txBody>
      </p:sp>
    </p:spTree>
    <p:extLst>
      <p:ext uri="{BB962C8B-B14F-4D97-AF65-F5344CB8AC3E}">
        <p14:creationId xmlns:p14="http://schemas.microsoft.com/office/powerpoint/2010/main" val="1332969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B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5BE9B-2AAC-411B-98E3-742853BD9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1910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132925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132925"/>
                </a:solidFill>
                <a:latin typeface="Aptos Display"/>
                <a:ea typeface="Aptos Display"/>
                <a:cs typeface="Aptos Display"/>
              </a:rPr>
              <a:t>One sample incident proves operational 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F59C1-19B6-4DEF-AA1A-C8E47814F5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447800"/>
            <a:ext cx="3676650" cy="485775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18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Synthetic demo incident</a:t>
            </a:r>
          </a:p>
          <a:p>
            <a:pPr marL="0" indent="0" algn="l">
              <a:spcAft>
                <a:spcPts val="7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70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2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stores</a:t>
            </a:r>
          </a:p>
          <a:p>
            <a:pPr marL="0" indent="0" algn="l">
              <a:spcAft>
                <a:spcPts val="7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7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23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affected units</a:t>
            </a:r>
          </a:p>
          <a:p>
            <a:pPr marL="0" indent="0" algn="l">
              <a:spcAft>
                <a:spcPts val="7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700" b="1" i="0">
                <a:solidFill>
                  <a:srgbClr val="087C72"/>
                </a:solidFill>
                <a:latin typeface="Aptos"/>
                <a:ea typeface="Aptos"/>
                <a:cs typeface="Aptos"/>
              </a:rPr>
              <a:t>6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valid inventory rows</a:t>
            </a:r>
          </a:p>
          <a:p>
            <a:pPr marL="0" indent="0" algn="l">
              <a:spcAft>
                <a:spcPts val="7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700" b="1" i="0">
                <a:solidFill>
                  <a:srgbClr val="B42318"/>
                </a:solidFill>
                <a:latin typeface="Aptos"/>
                <a:ea typeface="Aptos"/>
                <a:cs typeface="Aptos"/>
              </a:rPr>
              <a:t>2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safely rejected rows</a:t>
            </a:r>
          </a:p>
          <a:p>
            <a:pPr marL="0" indent="0" algn="l">
              <a:spcAft>
                <a:spcPts val="7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70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5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affected lots</a:t>
            </a:r>
          </a:p>
          <a:p>
            <a:pPr marL="0" indent="0" algn="l">
              <a:spcAft>
                <a:spcPts val="7"/>
              </a:spcAft>
              <a:buNone/>
              <a:defRPr sz="1425" b="0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2700" b="1" i="0">
                <a:solidFill>
                  <a:srgbClr val="C47A00"/>
                </a:solidFill>
                <a:latin typeface="Aptos"/>
                <a:ea typeface="Aptos"/>
                <a:cs typeface="Aptos"/>
              </a:rPr>
              <a:t>1</a:t>
            </a:r>
            <a:r>
              <a:rPr sz="1650" b="0" i="0">
                <a:solidFill>
                  <a:srgbClr val="5B6F6A"/>
                </a:solidFill>
                <a:latin typeface="Aptos"/>
                <a:ea typeface="Aptos"/>
                <a:cs typeface="Aptos"/>
              </a:rPr>
              <a:t> optional shelf artifact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EF08243-9C62-49A7-A5B0-C39F2F4B2C87}"/>
              </a:ext>
            </a:extLst>
          </p:cNvPr>
          <p:cNvSpPr>
            <a:spLocks noGrp="1"/>
          </p:cNvSpPr>
          <p:nvPr/>
        </p:nvSpPr>
        <p:spPr>
          <a:xfrm>
            <a:off x="4991100" y="1600200"/>
            <a:ext cx="6381750" cy="2781300"/>
          </a:xfrm>
          <a:prstGeom prst="roundRect">
            <a:avLst>
              <a:gd name="adj" fmla="val 2055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3"/>
          <a:srcRect t="11562" b="11562"/>
          <a:stretch>
            <a:fillRect/>
          </a:stretch>
        </p:blipFill>
        <p:spPr>
          <a:xfrm>
            <a:off x="5010150" y="1619250"/>
            <a:ext cx="6343650" cy="2743200"/>
          </a:xfrm>
          <a:prstGeom prst="roundRect">
            <a:avLst>
              <a:gd name="adj" fmla="val 2083"/>
            </a:avLst>
          </a:prstGeom>
        </p:spPr>
      </p:pic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CE8E1EB-CA90-4FD2-A1ED-BC9BA7C1C6FE}"/>
              </a:ext>
            </a:extLst>
          </p:cNvPr>
          <p:cNvSpPr>
            <a:spLocks noGrp="1"/>
          </p:cNvSpPr>
          <p:nvPr/>
        </p:nvSpPr>
        <p:spPr>
          <a:xfrm>
            <a:off x="5010150" y="4838700"/>
            <a:ext cx="1047750" cy="7429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B42318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Supplier
notice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4B1C5C9-8454-4798-8F11-0FB0BA5D734F}"/>
              </a:ext>
            </a:extLst>
          </p:cNvPr>
          <p:cNvSpPr>
            <a:spLocks noGrp="1"/>
          </p:cNvSpPr>
          <p:nvPr/>
        </p:nvSpPr>
        <p:spPr>
          <a:xfrm>
            <a:off x="6153150" y="4838700"/>
            <a:ext cx="1352550" cy="7429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Confirmed
snapshot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6E4DF2E-3363-41DD-9AFC-8F64A8270D8E}"/>
              </a:ext>
            </a:extLst>
          </p:cNvPr>
          <p:cNvSpPr>
            <a:spLocks noGrp="1"/>
          </p:cNvSpPr>
          <p:nvPr/>
        </p:nvSpPr>
        <p:spPr>
          <a:xfrm>
            <a:off x="7600950" y="4838700"/>
            <a:ext cx="1047750" cy="7429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Durable
run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3ACAEE0-066F-45EB-8AE1-8C51F987BAF0}"/>
              </a:ext>
            </a:extLst>
          </p:cNvPr>
          <p:cNvSpPr>
            <a:spLocks noGrp="1"/>
          </p:cNvSpPr>
          <p:nvPr/>
        </p:nvSpPr>
        <p:spPr>
          <a:xfrm>
            <a:off x="8743950" y="4838700"/>
            <a:ext cx="1238250" cy="742950"/>
          </a:xfrm>
          <a:prstGeom prst="roundRect">
            <a:avLst>
              <a:gd name="adj" fmla="val 7692"/>
            </a:avLst>
          </a:prstGeom>
          <a:solidFill>
            <a:srgbClr val="0B3D38"/>
          </a:solidFill>
          <a:ln w="9525">
            <a:solidFill>
              <a:srgbClr val="0B3D38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37 ordered
events</a:t>
            </a:r>
          </a:p>
        </p:txBody>
      </p:sp>
      <p:cxnSp>
        <p:nvCxnSpPr>
          <p:cNvPr id="24" name="Straight Arrow Connector 23"/>
          <p:cNvCxnSpPr>
            <a:stCxn id="6" idx="3"/>
            <a:endCxn id="7" idx="1"/>
          </p:cNvCxnSpPr>
          <p:nvPr/>
        </p:nvCxnSpPr>
        <p:spPr>
          <a:xfrm>
            <a:off x="6057900" y="5210175"/>
            <a:ext cx="9525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5" name="Straight Arrow Connector 24"/>
          <p:cNvCxnSpPr>
            <a:stCxn id="7" idx="3"/>
            <a:endCxn id="8" idx="1"/>
          </p:cNvCxnSpPr>
          <p:nvPr/>
        </p:nvCxnSpPr>
        <p:spPr>
          <a:xfrm>
            <a:off x="7505700" y="5210175"/>
            <a:ext cx="9525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26" name="Straight Arrow Connector 25"/>
          <p:cNvCxnSpPr>
            <a:stCxn id="8" idx="3"/>
            <a:endCxn id="9" idx="1"/>
          </p:cNvCxnSpPr>
          <p:nvPr/>
        </p:nvCxnSpPr>
        <p:spPr>
          <a:xfrm>
            <a:off x="8648700" y="5210175"/>
            <a:ext cx="95250" cy="0"/>
          </a:xfrm>
          <a:prstGeom prst="straightConnector1">
            <a:avLst/>
          </a:prstGeom>
          <a:ln w="19050">
            <a:solidFill>
              <a:srgbClr val="D6E3DF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ED9E097-3CED-48B0-BD52-F83DB04FF3E9}"/>
              </a:ext>
            </a:extLst>
          </p:cNvPr>
          <p:cNvSpPr>
            <a:spLocks noGrp="1"/>
          </p:cNvSpPr>
          <p:nvPr/>
        </p:nvSpPr>
        <p:spPr>
          <a:xfrm>
            <a:off x="10077450" y="4667250"/>
            <a:ext cx="1295400" cy="120015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D6E3DF"/>
            </a:solidFill>
            <a:prstDash val="solid"/>
          </a:ln>
        </p:spPr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4"/>
          <a:srcRect l="17246" r="17246"/>
          <a:stretch>
            <a:fillRect/>
          </a:stretch>
        </p:blipFill>
        <p:spPr>
          <a:xfrm>
            <a:off x="10096500" y="4686300"/>
            <a:ext cx="1257300" cy="1162050"/>
          </a:xfrm>
          <a:prstGeom prst="roundRect">
            <a:avLst>
              <a:gd name="adj" fmla="val 4918"/>
            </a:avLst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24B06E4-4A6B-4832-8192-EF11E6DFE098}"/>
              </a:ext>
            </a:extLst>
          </p:cNvPr>
          <p:cNvSpPr>
            <a:spLocks noGrp="1"/>
          </p:cNvSpPr>
          <p:nvPr/>
        </p:nvSpPr>
        <p:spPr>
          <a:xfrm>
            <a:off x="5010150" y="5905500"/>
            <a:ext cx="6343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1275" b="1">
                <a:solidFill>
                  <a:srgbClr val="0B3D38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Evidence remains inspectable from notice to ordered event.</a:t>
            </a:r>
          </a:p>
        </p:txBody>
      </p:sp>
    </p:spTree>
    <p:extLst>
      <p:ext uri="{BB962C8B-B14F-4D97-AF65-F5344CB8AC3E}">
        <p14:creationId xmlns:p14="http://schemas.microsoft.com/office/powerpoint/2010/main" val="2038076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D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0EBE0-D5C7-4610-BE00-124DCC0ED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76250"/>
            <a:ext cx="10934700" cy="781050"/>
          </a:xfrm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36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 i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Built for the path from notice to audit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87DEEF-0C49-435F-B11A-AFF9A8EDE2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562100"/>
            <a:ext cx="4457700" cy="4381500"/>
          </a:xfrm>
        </p:spPr>
        <p:txBody>
          <a:bodyPr wrap="square" lIns="0" tIns="0" rIns="76200" bIns="0" anchor="t">
            <a:noAutofit/>
          </a:bodyPr>
          <a:lstStyle/>
          <a:p>
            <a:pPr marL="0" indent="0" algn="l">
              <a:spcAft>
                <a:spcPts val="18"/>
              </a:spcAft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github.com/ankitranjan-dsai/batchhelm-ai</a:t>
            </a:r>
          </a:p>
          <a:p>
            <a:pPr marL="0" indent="0" algn="l">
              <a:spcAft>
                <a:spcPts val="34"/>
              </a:spcAft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D6E3DF"/>
                </a:solidFill>
                <a:latin typeface="Aptos"/>
                <a:ea typeface="Aptos"/>
                <a:cs typeface="Aptos"/>
              </a:rPr>
              <a:t>MIT license</a:t>
            </a:r>
          </a:p>
          <a:p>
            <a:pPr marL="0" indent="0" algn="l">
              <a:spcAft>
                <a:spcPts val="8"/>
              </a:spcAft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 the repository.</a:t>
            </a:r>
          </a:p>
          <a:p>
            <a:pPr marL="0" indent="0" algn="l">
              <a:spcAft>
                <a:spcPts val="8"/>
              </a:spcAft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Run the synthetic recall.</a:t>
            </a:r>
          </a:p>
          <a:p>
            <a:pPr marL="0" indent="0" algn="l">
              <a:spcAft>
                <a:spcPts val="44"/>
              </a:spcAft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100" b="1" i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Inspect every decision.</a:t>
            </a:r>
          </a:p>
          <a:p>
            <a:pPr marL="0" indent="0" algn="l">
              <a:spcAft>
                <a:spcPts val="12"/>
              </a:spcAft>
              <a:buNone/>
              <a:defRPr sz="1425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A9D8D3"/>
                </a:solidFill>
                <a:latin typeface="Aptos"/>
                <a:ea typeface="Aptos"/>
                <a:cs typeface="Aptos"/>
              </a:rPr>
              <a:t>Ankit Ranjan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11EF32-22DB-471F-8E19-59ABCD271679}"/>
              </a:ext>
            </a:extLst>
          </p:cNvPr>
          <p:cNvSpPr>
            <a:spLocks noGrp="1"/>
          </p:cNvSpPr>
          <p:nvPr/>
        </p:nvSpPr>
        <p:spPr>
          <a:xfrm>
            <a:off x="5981700" y="1524000"/>
            <a:ext cx="4000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2400" b="1">
                <a:solidFill>
                  <a:srgbClr val="A9D8D3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A9D8D3"/>
                </a:solidFill>
                <a:latin typeface="Aptos"/>
                <a:ea typeface="Aptos"/>
                <a:cs typeface="Aptos"/>
              </a:rPr>
              <a:t>GREEN CI ON MAIN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592B7DF-7990-42AC-A259-97D9875164D1}"/>
              </a:ext>
            </a:extLst>
          </p:cNvPr>
          <p:cNvSpPr>
            <a:spLocks noGrp="1"/>
          </p:cNvSpPr>
          <p:nvPr/>
        </p:nvSpPr>
        <p:spPr>
          <a:xfrm>
            <a:off x="5981700" y="2057400"/>
            <a:ext cx="2381250" cy="361950"/>
          </a:xfrm>
          <a:prstGeom prst="roundRect">
            <a:avLst>
              <a:gd name="adj" fmla="val 15789"/>
            </a:avLst>
          </a:prstGeom>
          <a:solidFill>
            <a:srgbClr val="E4F4EA"/>
          </a:solidFill>
          <a:ln w="9525">
            <a:solidFill>
              <a:srgbClr val="9FD0B1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69448F-0A7E-430F-AE57-528EE3561C05}"/>
              </a:ext>
            </a:extLst>
          </p:cNvPr>
          <p:cNvSpPr>
            <a:spLocks noGrp="1"/>
          </p:cNvSpPr>
          <p:nvPr/>
        </p:nvSpPr>
        <p:spPr>
          <a:xfrm>
            <a:off x="6057900" y="2085975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D7A4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D7A4E"/>
                </a:solidFill>
                <a:latin typeface="Aptos"/>
                <a:ea typeface="Aptos"/>
                <a:cs typeface="Aptos"/>
              </a:rPr>
              <a:t>✓  Backend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852C9982-CC9F-4022-8A37-89029430A0AA}"/>
              </a:ext>
            </a:extLst>
          </p:cNvPr>
          <p:cNvSpPr>
            <a:spLocks noGrp="1"/>
          </p:cNvSpPr>
          <p:nvPr/>
        </p:nvSpPr>
        <p:spPr>
          <a:xfrm>
            <a:off x="8629650" y="2057400"/>
            <a:ext cx="2381250" cy="361950"/>
          </a:xfrm>
          <a:prstGeom prst="roundRect">
            <a:avLst>
              <a:gd name="adj" fmla="val 15789"/>
            </a:avLst>
          </a:prstGeom>
          <a:solidFill>
            <a:srgbClr val="E4F4EA"/>
          </a:solidFill>
          <a:ln w="9525">
            <a:solidFill>
              <a:srgbClr val="9FD0B1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ED6D34-9CB4-40D2-B858-95CD5D3FFC84}"/>
              </a:ext>
            </a:extLst>
          </p:cNvPr>
          <p:cNvSpPr>
            <a:spLocks noGrp="1"/>
          </p:cNvSpPr>
          <p:nvPr/>
        </p:nvSpPr>
        <p:spPr>
          <a:xfrm>
            <a:off x="8705850" y="2085975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D7A4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D7A4E"/>
                </a:solidFill>
                <a:latin typeface="Aptos"/>
                <a:ea typeface="Aptos"/>
                <a:cs typeface="Aptos"/>
              </a:rPr>
              <a:t>✓  Frontend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AB5EEAA-E393-4890-9493-51122F86E9E0}"/>
              </a:ext>
            </a:extLst>
          </p:cNvPr>
          <p:cNvSpPr>
            <a:spLocks noGrp="1"/>
          </p:cNvSpPr>
          <p:nvPr/>
        </p:nvSpPr>
        <p:spPr>
          <a:xfrm>
            <a:off x="5981700" y="2552700"/>
            <a:ext cx="2381250" cy="361950"/>
          </a:xfrm>
          <a:prstGeom prst="roundRect">
            <a:avLst>
              <a:gd name="adj" fmla="val 15789"/>
            </a:avLst>
          </a:prstGeom>
          <a:solidFill>
            <a:srgbClr val="E4F4EA"/>
          </a:solidFill>
          <a:ln w="9525">
            <a:solidFill>
              <a:srgbClr val="9FD0B1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D9869F-04D6-43AF-85E7-C515426AD373}"/>
              </a:ext>
            </a:extLst>
          </p:cNvPr>
          <p:cNvSpPr>
            <a:spLocks noGrp="1"/>
          </p:cNvSpPr>
          <p:nvPr/>
        </p:nvSpPr>
        <p:spPr>
          <a:xfrm>
            <a:off x="6057900" y="2581275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D7A4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D7A4E"/>
                </a:solidFill>
                <a:latin typeface="Aptos"/>
                <a:ea typeface="Aptos"/>
                <a:cs typeface="Aptos"/>
              </a:rPr>
              <a:t>✓  Attribution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E946C84-0237-47FE-BF50-0739C630DB48}"/>
              </a:ext>
            </a:extLst>
          </p:cNvPr>
          <p:cNvSpPr>
            <a:spLocks noGrp="1"/>
          </p:cNvSpPr>
          <p:nvPr/>
        </p:nvSpPr>
        <p:spPr>
          <a:xfrm>
            <a:off x="8629650" y="2552700"/>
            <a:ext cx="2381250" cy="361950"/>
          </a:xfrm>
          <a:prstGeom prst="roundRect">
            <a:avLst>
              <a:gd name="adj" fmla="val 15789"/>
            </a:avLst>
          </a:prstGeom>
          <a:solidFill>
            <a:srgbClr val="E4F4EA"/>
          </a:solidFill>
          <a:ln w="9525">
            <a:solidFill>
              <a:srgbClr val="9FD0B1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31E8650-BE95-4930-B701-A981431D4D39}"/>
              </a:ext>
            </a:extLst>
          </p:cNvPr>
          <p:cNvSpPr>
            <a:spLocks noGrp="1"/>
          </p:cNvSpPr>
          <p:nvPr/>
        </p:nvSpPr>
        <p:spPr>
          <a:xfrm>
            <a:off x="8705850" y="2581275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200" b="1">
                <a:solidFill>
                  <a:srgbClr val="1D7A4E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D7A4E"/>
                </a:solidFill>
                <a:latin typeface="Aptos"/>
                <a:ea typeface="Aptos"/>
                <a:cs typeface="Aptos"/>
              </a:rPr>
              <a:t>✓  Docker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6FB68F5-A87F-417F-8E14-04D9E3C088F0}"/>
              </a:ext>
            </a:extLst>
          </p:cNvPr>
          <p:cNvSpPr>
            <a:spLocks noGrp="1"/>
          </p:cNvSpPr>
          <p:nvPr/>
        </p:nvSpPr>
        <p:spPr>
          <a:xfrm>
            <a:off x="5981700" y="3105150"/>
            <a:ext cx="5562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0"/>
              </a:spcAft>
              <a:buNone/>
              <a:defRPr sz="2400" b="1">
                <a:solidFill>
                  <a:srgbClr val="A9D8D3"/>
                </a:solidFill>
                <a:latin typeface="Aptos"/>
                <a:ea typeface="Aptos"/>
                <a:cs typeface="Aptos"/>
              </a:defRPr>
            </a:pPr>
            <a:r>
              <a:rPr sz="2400" b="1" i="0">
                <a:solidFill>
                  <a:srgbClr val="A9D8D3"/>
                </a:solidFill>
                <a:latin typeface="Aptos"/>
                <a:ea typeface="Aptos"/>
                <a:cs typeface="Aptos"/>
              </a:rPr>
              <a:t>ALIBABA CLOUD DEPLOYMENT ARCHITECTURE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F5AEB77-2A67-4B1F-8D25-8CADDCD3C8D9}"/>
              </a:ext>
            </a:extLst>
          </p:cNvPr>
          <p:cNvSpPr>
            <a:spLocks noGrp="1"/>
          </p:cNvSpPr>
          <p:nvPr/>
        </p:nvSpPr>
        <p:spPr>
          <a:xfrm>
            <a:off x="5981700" y="3924300"/>
            <a:ext cx="1104900" cy="533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A9D8D3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1861C35-94A9-465A-B8EC-CDCDC119DA9C}"/>
              </a:ext>
            </a:extLst>
          </p:cNvPr>
          <p:cNvSpPr>
            <a:spLocks noGrp="1"/>
          </p:cNvSpPr>
          <p:nvPr/>
        </p:nvSpPr>
        <p:spPr>
          <a:xfrm>
            <a:off x="7448550" y="3848100"/>
            <a:ext cx="1181100" cy="6858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A9D8D3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Alibaba
Ingress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BC37DA4-1276-4622-8062-28FF27D7A3C5}"/>
              </a:ext>
            </a:extLst>
          </p:cNvPr>
          <p:cNvSpPr>
            <a:spLocks noGrp="1"/>
          </p:cNvSpPr>
          <p:nvPr/>
        </p:nvSpPr>
        <p:spPr>
          <a:xfrm>
            <a:off x="8991600" y="3848100"/>
            <a:ext cx="1257300" cy="685800"/>
          </a:xfrm>
          <a:prstGeom prst="roundRect">
            <a:avLst>
              <a:gd name="adj" fmla="val 8333"/>
            </a:avLst>
          </a:prstGeom>
          <a:solidFill>
            <a:srgbClr val="DDF0ED"/>
          </a:solidFill>
          <a:ln w="9525">
            <a:solidFill>
              <a:srgbClr val="087C72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0B3D38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0B3D38"/>
                </a:solidFill>
                <a:latin typeface="Aptos"/>
                <a:ea typeface="Aptos"/>
                <a:cs typeface="Aptos"/>
              </a:rPr>
              <a:t>BatchHelm
UI + API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19CCE41-5F8A-489B-BCBA-CFC052C022BD}"/>
              </a:ext>
            </a:extLst>
          </p:cNvPr>
          <p:cNvSpPr>
            <a:spLocks noGrp="1"/>
          </p:cNvSpPr>
          <p:nvPr/>
        </p:nvSpPr>
        <p:spPr>
          <a:xfrm>
            <a:off x="10420350" y="3924300"/>
            <a:ext cx="1123950" cy="533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A9D8D3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Qwen Cloud</a:t>
            </a:r>
          </a:p>
        </p:txBody>
      </p:sp>
      <p:cxnSp>
        <p:nvCxnSpPr>
          <p:cNvPr id="42" name="Straight Arrow Connector 41"/>
          <p:cNvCxnSpPr>
            <a:stCxn id="14" idx="3"/>
            <a:endCxn id="15" idx="1"/>
          </p:cNvCxnSpPr>
          <p:nvPr/>
        </p:nvCxnSpPr>
        <p:spPr>
          <a:xfrm>
            <a:off x="7086600" y="4191000"/>
            <a:ext cx="361950" cy="0"/>
          </a:xfrm>
          <a:prstGeom prst="straightConnector1">
            <a:avLst/>
          </a:prstGeom>
          <a:ln w="19050">
            <a:solidFill>
              <a:srgbClr val="7EB9B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3" name="Straight Arrow Connector 42"/>
          <p:cNvCxnSpPr>
            <a:stCxn id="15" idx="3"/>
            <a:endCxn id="16" idx="1"/>
          </p:cNvCxnSpPr>
          <p:nvPr/>
        </p:nvCxnSpPr>
        <p:spPr>
          <a:xfrm>
            <a:off x="8629650" y="4191000"/>
            <a:ext cx="361950" cy="0"/>
          </a:xfrm>
          <a:prstGeom prst="straightConnector1">
            <a:avLst/>
          </a:prstGeom>
          <a:ln w="19050">
            <a:solidFill>
              <a:srgbClr val="7EB9B2"/>
            </a:solidFill>
            <a:prstDash val="solid"/>
            <a:headEnd type="none" w="med" len="med"/>
            <a:tailEnd type="arrow" w="sm" len="sm"/>
          </a:ln>
        </p:spPr>
      </p:cxnSp>
      <p:cxnSp>
        <p:nvCxnSpPr>
          <p:cNvPr id="44" name="Straight Arrow Connector 43"/>
          <p:cNvCxnSpPr>
            <a:stCxn id="16" idx="3"/>
            <a:endCxn id="17" idx="1"/>
          </p:cNvCxnSpPr>
          <p:nvPr/>
        </p:nvCxnSpPr>
        <p:spPr>
          <a:xfrm>
            <a:off x="10248900" y="4191000"/>
            <a:ext cx="171450" cy="0"/>
          </a:xfrm>
          <a:prstGeom prst="straightConnector1">
            <a:avLst/>
          </a:prstGeom>
          <a:ln w="19050">
            <a:solidFill>
              <a:srgbClr val="7EB9B2"/>
            </a:solidFill>
            <a:prstDash val="solid"/>
            <a:headEnd type="none" w="med" len="med"/>
            <a:tailEnd type="arrow" w="sm" len="sm"/>
          </a:ln>
        </p:spPr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E11FF7F-5167-4827-B068-2EBC75672C4D}"/>
              </a:ext>
            </a:extLst>
          </p:cNvPr>
          <p:cNvSpPr>
            <a:spLocks noGrp="1"/>
          </p:cNvSpPr>
          <p:nvPr/>
        </p:nvSpPr>
        <p:spPr>
          <a:xfrm>
            <a:off x="7772400" y="5048250"/>
            <a:ext cx="142875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C47A00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SQLite volume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42D66AA-0AD6-4672-BFEF-F85A77E9AECD}"/>
              </a:ext>
            </a:extLst>
          </p:cNvPr>
          <p:cNvSpPr>
            <a:spLocks noGrp="1"/>
          </p:cNvSpPr>
          <p:nvPr/>
        </p:nvSpPr>
        <p:spPr>
          <a:xfrm>
            <a:off x="9410700" y="5048250"/>
            <a:ext cx="1428750" cy="6096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C47A00"/>
            </a:solidFill>
            <a:prstDash val="solid"/>
          </a:ln>
        </p:spPr>
        <p:txBody>
          <a:bodyPr wrap="square" lIns="57150" tIns="57150" rIns="57150" bIns="57150" anchor="ctr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1">
                <a:solidFill>
                  <a:srgbClr val="132925"/>
                </a:solidFill>
                <a:latin typeface="Aptos"/>
                <a:ea typeface="Aptos"/>
                <a:cs typeface="Aptos"/>
              </a:defRPr>
            </a:pPr>
            <a:r>
              <a:rPr sz="1650" b="1" i="0">
                <a:solidFill>
                  <a:srgbClr val="132925"/>
                </a:solidFill>
                <a:latin typeface="Aptos"/>
                <a:ea typeface="Aptos"/>
                <a:cs typeface="Aptos"/>
              </a:rPr>
              <a:t>Artifact storage</a:t>
            </a:r>
          </a:p>
        </p:txBody>
      </p:sp>
      <p:cxnSp>
        <p:nvCxnSpPr>
          <p:cNvPr id="47" name="Elbow Connector 46"/>
          <p:cNvCxnSpPr>
            <a:stCxn id="16" idx="2"/>
            <a:endCxn id="21" idx="0"/>
          </p:cNvCxnSpPr>
          <p:nvPr/>
        </p:nvCxnSpPr>
        <p:spPr>
          <a:xfrm flipH="1">
            <a:off x="8486775" y="4533900"/>
            <a:ext cx="1133475" cy="5143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D7B56D"/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48" name="Elbow Connector 47"/>
          <p:cNvCxnSpPr>
            <a:stCxn id="16" idx="2"/>
            <a:endCxn id="22" idx="0"/>
          </p:cNvCxnSpPr>
          <p:nvPr/>
        </p:nvCxnSpPr>
        <p:spPr>
          <a:xfrm>
            <a:off x="9620250" y="4533900"/>
            <a:ext cx="504825" cy="5143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D7B56D"/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61A41C06-81EC-46B6-B1D2-12C8DF02E2A7}"/>
              </a:ext>
            </a:extLst>
          </p:cNvPr>
          <p:cNvSpPr>
            <a:spLocks noGrp="1"/>
          </p:cNvSpPr>
          <p:nvPr/>
        </p:nvSpPr>
        <p:spPr>
          <a:xfrm>
            <a:off x="5981700" y="5810250"/>
            <a:ext cx="55626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0" indent="0" algn="ctr">
              <a:spcAft>
                <a:spcPts val="0"/>
              </a:spcAft>
              <a:buNone/>
              <a:defRPr sz="1125" b="0">
                <a:solidFill>
                  <a:srgbClr val="D6E3DF"/>
                </a:solidFill>
                <a:latin typeface="Aptos"/>
                <a:ea typeface="Aptos"/>
                <a:cs typeface="Aptos"/>
              </a:defRPr>
            </a:pPr>
            <a:r>
              <a:rPr sz="1650" b="0" i="0">
                <a:solidFill>
                  <a:srgbClr val="D6E3DF"/>
                </a:solidFill>
                <a:latin typeface="Aptos"/>
                <a:ea typeface="Aptos"/>
                <a:cs typeface="Aptos"/>
              </a:rPr>
              <a:t>Docker image · health checks · persistent volumes · one API replica</a:t>
            </a:r>
          </a:p>
        </p:txBody>
      </p:sp>
    </p:spTree>
    <p:extLst>
      <p:ext uri="{BB962C8B-B14F-4D97-AF65-F5344CB8AC3E}">
        <p14:creationId xmlns:p14="http://schemas.microsoft.com/office/powerpoint/2010/main" val="21066455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709</Words>
  <Application>Microsoft Macintosh PowerPoint</Application>
  <DocSecurity>0</DocSecurity>
  <PresentationFormat>Widescreen</PresentationFormat>
  <Paragraphs>146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Calibri</vt:lpstr>
      <vt:lpstr>Office Theme</vt:lpstr>
      <vt:lpstr>BatchHelm</vt:lpstr>
      <vt:lpstr>Recalls create five unanswered questions</vt:lpstr>
      <vt:lpstr>Files, Review, Launch</vt:lpstr>
      <vt:lpstr>Autonomy stops at the evidence gate</vt:lpstr>
      <vt:lpstr>Qwen handles the uncertain work</vt:lpstr>
      <vt:lpstr>Nine specialists share one typed blackboard</vt:lpstr>
      <vt:lpstr>Every event survives before it appears</vt:lpstr>
      <vt:lpstr>The DAG earns its complexity</vt:lpstr>
      <vt:lpstr>One sample incident proves operational value</vt:lpstr>
      <vt:lpstr>Built for the path from notice to audit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BatchHelm AI - Qwen Global AI Hackathon</dc:title>
  <dc:subject>Production-shaped recall autopilot</dc:subject>
  <dc:creator>Ankit Ranjan</dc:creator>
  <dc:description>BatchHelm hackathon presentation</dc:description>
  <cp:lastModifiedBy>Ankit Ranjan</cp:lastModifiedBy>
  <cp:revision>1</cp:revision>
  <dcterms:created xsi:type="dcterms:W3CDTF">2026-07-04T15:09:58Z</dcterms:created>
  <dcterms:modified xsi:type="dcterms:W3CDTF">2026-07-04T15:11:50Z</dcterms:modified>
</cp:coreProperties>
</file>