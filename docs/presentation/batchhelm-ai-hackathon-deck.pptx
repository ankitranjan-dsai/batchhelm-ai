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47CA-50D6-4EDC-A782-E13DA54FF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8940C-3436-4084-A2EB-03C0D8337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CAB78-F8F4-4104-B740-C14EE1EC1C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DAA6E-F6E3-4437-85A9-436ECE2FC1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4F376-5BA9-45B8-8E5F-C6B448CE3E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D04D-2B0C-4510-9E49-9D883F55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E5F3-7E11-406C-895D-C669B393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6E2B2-3F9E-452C-AC93-55ECD59E90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7986C-7E0C-4E03-B4C4-3B084CF403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E4A1D-75C2-4B66-84D3-0B6D1F055D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EE51-E12D-4376-8830-94E32793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D5068-57F8-472A-8A1C-48BAF3C54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335AE-9ECB-4A80-A38A-7E0FD07382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36E5C-BD2C-4BCB-ABFA-9235B26867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CC26A-6A55-4BD6-90D5-41E1E1448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3C39-A5E3-4E99-A98C-F36D006E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A5D2-2A88-4662-8FBF-1190C077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B8A9D-732E-4BE2-B6DF-E1D4520269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BB1E2-6EAF-47EF-8A3A-4E6CD6DD68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58B11-C9BC-41C1-8078-73F84FD7EC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B466F-9662-4316-80AD-CE4421AAD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135C-35E7-480B-B390-CC075F23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EEEB0-1CFF-4423-87B3-7974C726C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57DB0-9F5E-4958-AA7C-53B728C3D22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5BEF0-EB99-40B0-916A-F3BD7F9624E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93612-60FA-45CD-9608-2298182EF59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9C4935-9061-4698-B96E-C7BFCC28B2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09049-0F72-42B5-808D-FEB0BFE6E6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C1CA5B-62C0-47D9-9E98-CFA1060F5C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6D86-F588-4918-917F-639202B5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BBFEE-F5A5-4E9A-AAE5-85BD6157B0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B8C27-7687-463F-81CB-3B68721FA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2C0C6-2681-403E-9410-736920223C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E6899-8F40-4E9C-A0E4-C0F0CDEBC1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D9C7D-A483-451C-A264-33865CD2E8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049D4-99B9-4203-942C-CAEEA12239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8468-099D-45F2-B309-301F7F5DD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F688-575D-4C46-AC85-242FBBAF0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24C26-4B72-434A-8CA6-E8943BA758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3E391-0326-44C3-B49D-A413A0AE55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CFADA-A45B-4433-A805-48C46A427A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8EA63-4DB6-4914-A723-D229AC0C3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0292-C8B3-477A-800A-18E01DF9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E97E5-850F-46B6-A20D-471E909B2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5DF34-5566-4761-93F5-1D1AFCA612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2B1E4-F2F7-41C6-9EED-8C75051829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97BB-A807-46E2-8064-289E9E38B7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9706C-CC84-4AEE-84EE-EFFD8159DD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A8DD-E27C-4201-8459-F6F68CD4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D90C3-33ED-4A40-BDDC-FF2F26642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3A8F0-A87F-4BD6-B028-7268E2B5A2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D44B6-5CB4-4AE2-A1C5-E0E936CDA9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5E04D-708F-4175-82DE-5F895C1F5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75833-E023-458E-A152-47BAD907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04091-0576-41B1-B057-F906D53F3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CD16F-747F-4CCC-8F87-4F9C40BDEE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E3F3-6448-4713-BA8F-EF779D3C7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80D81-096F-4F89-9E1B-7BD8C76048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28B1A-E204-4FCB-93F1-5F7AA3960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396C-43DC-4CB0-805B-8BA71FCD9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3987A-1CF3-4A1F-9DD3-4245E25F333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7/4/26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758A-A055-48F8-8890-B861C6CD978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0C24B-3564-4DB5-B917-653032D041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585E-705D-4054-A8CA-792C10D16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781050"/>
            <a:ext cx="3619500" cy="8953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BatchHelm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C035C-DDA9-4142-BBCA-A08D1929D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924050"/>
            <a:ext cx="3562350" cy="32385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4"/>
              </a:spcAft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recall packet becomes a controlled response.</a:t>
            </a:r>
          </a:p>
          <a:p>
            <a:pPr marL="0" indent="0" algn="l">
              <a:spcAft>
                <a:spcPts val="38"/>
              </a:spcAft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D6E3DF"/>
                </a:solidFill>
                <a:latin typeface="Aptos"/>
                <a:ea typeface="Aptos"/>
                <a:cs typeface="Aptos"/>
              </a:rPr>
              <a:t>Real intake. Nine specialist agents. Human evidence gate.</a:t>
            </a:r>
          </a:p>
          <a:p>
            <a:pPr marL="0" indent="0" algn="l">
              <a:spcAft>
                <a:spcPts val="7"/>
              </a:spcAft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9D8D3"/>
                </a:solidFill>
                <a:latin typeface="Aptos"/>
                <a:ea typeface="Aptos"/>
                <a:cs typeface="Aptos"/>
              </a:rPr>
              <a:t>Qwen Global AI Hackathon</a:t>
            </a:r>
          </a:p>
          <a:p>
            <a:pPr marL="0" indent="0" algn="l">
              <a:spcAft>
                <a:spcPts val="0"/>
              </a:spcAft>
              <a:buNone/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Ankit Ranjan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9C2518-2735-404A-8D1B-F550CF62E5B8}"/>
              </a:ext>
            </a:extLst>
          </p:cNvPr>
          <p:cNvSpPr>
            <a:spLocks noGrp="1"/>
          </p:cNvSpPr>
          <p:nvPr/>
        </p:nvSpPr>
        <p:spPr>
          <a:xfrm>
            <a:off x="4743450" y="571500"/>
            <a:ext cx="6781800" cy="5715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2C62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l="16590" r="16590"/>
          <a:stretch>
            <a:fillRect/>
          </a:stretch>
        </p:blipFill>
        <p:spPr>
          <a:xfrm>
            <a:off x="4762500" y="590550"/>
            <a:ext cx="6743700" cy="5676900"/>
          </a:xfrm>
          <a:prstGeom prst="roundRect">
            <a:avLst>
              <a:gd name="adj" fmla="val 1007"/>
            </a:avLst>
          </a:prstGeom>
        </p:spPr>
      </p:pic>
    </p:spTree>
    <p:extLst>
      <p:ext uri="{BB962C8B-B14F-4D97-AF65-F5344CB8AC3E}">
        <p14:creationId xmlns:p14="http://schemas.microsoft.com/office/powerpoint/2010/main" val="52399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D60A-BC59-4F1F-B069-8D3E800F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Recalls create five unanswered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42A9-69CB-47E2-BC98-74284CB8A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4667250" cy="432435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15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01</a:t>
            </a:r>
            <a:r>
              <a:rPr sz="16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What product and lots are affected?</a:t>
            </a:r>
          </a:p>
          <a:p>
            <a:pPr marL="0" indent="0" algn="l">
              <a:spcAft>
                <a:spcPts val="15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02</a:t>
            </a:r>
            <a:r>
              <a:rPr sz="16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Where are matching units now?</a:t>
            </a:r>
          </a:p>
          <a:p>
            <a:pPr marL="0" indent="0" algn="l">
              <a:spcAft>
                <a:spcPts val="15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03</a:t>
            </a:r>
            <a:r>
              <a:rPr sz="16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Who must act?</a:t>
            </a:r>
          </a:p>
          <a:p>
            <a:pPr marL="0" indent="0" algn="l">
              <a:spcAft>
                <a:spcPts val="15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04</a:t>
            </a:r>
            <a:r>
              <a:rPr sz="16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Who may need notification?</a:t>
            </a:r>
          </a:p>
          <a:p>
            <a:pPr marL="0" indent="0" algn="l">
              <a:spcAft>
                <a:spcPts val="22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05</a:t>
            </a:r>
            <a:r>
              <a:rPr sz="16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What evidence must survive?</a:t>
            </a:r>
          </a:p>
          <a:p>
            <a:pPr marL="0" indent="0" algn="l">
              <a:spcAft>
                <a:spcPts val="15"/>
              </a:spcAft>
              <a:buNone/>
              <a:defRPr sz="16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Small operators must answer all five without enterprise recall tooling.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E3EF89-EEAF-4F60-A1B1-4B4483142F6B}"/>
              </a:ext>
            </a:extLst>
          </p:cNvPr>
          <p:cNvSpPr>
            <a:spLocks noGrp="1"/>
          </p:cNvSpPr>
          <p:nvPr/>
        </p:nvSpPr>
        <p:spPr>
          <a:xfrm>
            <a:off x="6019800" y="1504950"/>
            <a:ext cx="2095500" cy="323850"/>
          </a:xfrm>
          <a:prstGeom prst="roundRect">
            <a:avLst>
              <a:gd name="adj" fmla="val 17647"/>
            </a:avLst>
          </a:prstGeom>
          <a:solidFill>
            <a:srgbClr val="FBEAE8"/>
          </a:solidFill>
          <a:ln w="9525">
            <a:solidFill>
              <a:srgbClr val="F3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7A7FA-E038-471F-8626-48B19F8B4F5C}"/>
              </a:ext>
            </a:extLst>
          </p:cNvPr>
          <p:cNvSpPr>
            <a:spLocks noGrp="1"/>
          </p:cNvSpPr>
          <p:nvPr/>
        </p:nvSpPr>
        <p:spPr>
          <a:xfrm>
            <a:off x="6096000" y="1533525"/>
            <a:ext cx="1943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SYNTHETIC DEMO PACKET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E98621-BDEE-428B-B5ED-F116E5DBBDAA}"/>
              </a:ext>
            </a:extLst>
          </p:cNvPr>
          <p:cNvSpPr>
            <a:spLocks noGrp="1"/>
          </p:cNvSpPr>
          <p:nvPr/>
        </p:nvSpPr>
        <p:spPr>
          <a:xfrm>
            <a:off x="6000750" y="1962150"/>
            <a:ext cx="2647950" cy="421005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19800" y="2378449"/>
            <a:ext cx="2609850" cy="3377453"/>
          </a:xfrm>
          <a:prstGeom prst="roundRect">
            <a:avLst>
              <a:gd name="adj" fmla="val 2190"/>
            </a:avLst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DDFC06-13AF-4E9A-B444-8A604638BFF5}"/>
              </a:ext>
            </a:extLst>
          </p:cNvPr>
          <p:cNvSpPr>
            <a:spLocks noGrp="1"/>
          </p:cNvSpPr>
          <p:nvPr/>
        </p:nvSpPr>
        <p:spPr>
          <a:xfrm>
            <a:off x="8839200" y="1962150"/>
            <a:ext cx="2590800" cy="20193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l="10994" r="10994"/>
          <a:stretch>
            <a:fillRect/>
          </a:stretch>
        </p:blipFill>
        <p:spPr>
          <a:xfrm>
            <a:off x="8858250" y="1981200"/>
            <a:ext cx="2552700" cy="1981200"/>
          </a:xfrm>
          <a:prstGeom prst="roundRect">
            <a:avLst>
              <a:gd name="adj" fmla="val 2885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D66590-44F1-4708-8617-F8CEC4BC1F12}"/>
              </a:ext>
            </a:extLst>
          </p:cNvPr>
          <p:cNvSpPr>
            <a:spLocks noGrp="1"/>
          </p:cNvSpPr>
          <p:nvPr/>
        </p:nvSpPr>
        <p:spPr>
          <a:xfrm>
            <a:off x="8858250" y="4267200"/>
            <a:ext cx="2552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10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The notice identifies risk.</a:t>
            </a:r>
          </a:p>
          <a:p>
            <a:pPr marL="0" indent="0" algn="l">
              <a:spcAft>
                <a:spcPts val="8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The shelf image proves why evidence still needs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6852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0532-8A55-4D89-A415-332A73002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Files, Review, Launch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178D-AC97-4B37-85AB-F5ECFEDB5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85900"/>
            <a:ext cx="2914650" cy="47625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Ambiguous inputs become a launchable incident only after review.</a:t>
            </a:r>
          </a:p>
          <a:p>
            <a:pPr marL="0" indent="0" algn="l">
              <a:spcAft>
                <a:spcPts val="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6</a:t>
            </a: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accepted rows</a:t>
            </a:r>
          </a:p>
          <a:p>
            <a:pPr marL="0" indent="0" algn="l">
              <a:spcAft>
                <a:spcPts val="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2</a:t>
            </a: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safely rejected</a:t>
            </a:r>
          </a:p>
          <a:p>
            <a:pPr marL="0" indent="0" algn="l">
              <a:spcAft>
                <a:spcPts val="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23</a:t>
            </a: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on-hand units</a:t>
            </a:r>
          </a:p>
          <a:p>
            <a:pPr marL="0" indent="0" algn="l">
              <a:spcAft>
                <a:spcPts val="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2</a:t>
            </a: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stores</a:t>
            </a:r>
          </a:p>
          <a:p>
            <a:pPr marL="0" indent="0" algn="l">
              <a:spcAft>
                <a:spcPts val="8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C47A00"/>
                </a:solidFill>
                <a:latin typeface="Aptos"/>
                <a:ea typeface="Aptos"/>
                <a:cs typeface="Aptos"/>
              </a:rPr>
              <a:t>2</a:t>
            </a: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review warnings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7DA05-A0A6-43F1-B11C-649CC014A181}"/>
              </a:ext>
            </a:extLst>
          </p:cNvPr>
          <p:cNvSpPr>
            <a:spLocks noGrp="1"/>
          </p:cNvSpPr>
          <p:nvPr/>
        </p:nvSpPr>
        <p:spPr>
          <a:xfrm>
            <a:off x="4095750" y="15430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2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01</a:t>
            </a: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638042-81DC-41E5-9A67-3D389E2985F3}"/>
              </a:ext>
            </a:extLst>
          </p:cNvPr>
          <p:cNvSpPr>
            <a:spLocks noGrp="1"/>
          </p:cNvSpPr>
          <p:nvPr/>
        </p:nvSpPr>
        <p:spPr>
          <a:xfrm>
            <a:off x="5219700" y="1704975"/>
            <a:ext cx="895350" cy="19050"/>
          </a:xfrm>
          <a:prstGeom prst="rect">
            <a:avLst/>
          </a:prstGeom>
          <a:solidFill>
            <a:srgbClr val="D6E3DF"/>
          </a:solidFill>
          <a:ln w="0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8BE82-F1AB-47FF-908A-88220C0A9BAB}"/>
              </a:ext>
            </a:extLst>
          </p:cNvPr>
          <p:cNvSpPr>
            <a:spLocks noGrp="1"/>
          </p:cNvSpPr>
          <p:nvPr/>
        </p:nvSpPr>
        <p:spPr>
          <a:xfrm>
            <a:off x="6229350" y="15430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2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02</a:t>
            </a: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A5E17-1DED-4E99-A8B9-1672AD49990E}"/>
              </a:ext>
            </a:extLst>
          </p:cNvPr>
          <p:cNvSpPr>
            <a:spLocks noGrp="1"/>
          </p:cNvSpPr>
          <p:nvPr/>
        </p:nvSpPr>
        <p:spPr>
          <a:xfrm>
            <a:off x="7524750" y="1704975"/>
            <a:ext cx="895350" cy="19050"/>
          </a:xfrm>
          <a:prstGeom prst="rect">
            <a:avLst/>
          </a:prstGeom>
          <a:solidFill>
            <a:srgbClr val="D6E3DF"/>
          </a:solidFill>
          <a:ln w="0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D4AB8-3576-4BF6-87F2-74361EA1D8F7}"/>
              </a:ext>
            </a:extLst>
          </p:cNvPr>
          <p:cNvSpPr>
            <a:spLocks noGrp="1"/>
          </p:cNvSpPr>
          <p:nvPr/>
        </p:nvSpPr>
        <p:spPr>
          <a:xfrm>
            <a:off x="8534400" y="154305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2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03</a:t>
            </a: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LAUNCH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AA7DC2-6A53-4B71-86D4-686B68C048A0}"/>
              </a:ext>
            </a:extLst>
          </p:cNvPr>
          <p:cNvSpPr>
            <a:spLocks noGrp="1"/>
          </p:cNvSpPr>
          <p:nvPr/>
        </p:nvSpPr>
        <p:spPr>
          <a:xfrm>
            <a:off x="4076700" y="2019300"/>
            <a:ext cx="3105150" cy="1762125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96808" y="2038350"/>
            <a:ext cx="3064933" cy="1724025"/>
          </a:xfrm>
          <a:prstGeom prst="roundRect">
            <a:avLst>
              <a:gd name="adj" fmla="val 3315"/>
            </a:avLst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FE3062-DBEF-436C-B97A-C14E87C5206B}"/>
              </a:ext>
            </a:extLst>
          </p:cNvPr>
          <p:cNvSpPr>
            <a:spLocks noGrp="1"/>
          </p:cNvSpPr>
          <p:nvPr/>
        </p:nvSpPr>
        <p:spPr>
          <a:xfrm>
            <a:off x="7353300" y="2019300"/>
            <a:ext cx="4076700" cy="230505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76583" y="2038350"/>
            <a:ext cx="4030133" cy="2266950"/>
          </a:xfrm>
          <a:prstGeom prst="roundRect">
            <a:avLst>
              <a:gd name="adj" fmla="val 2521"/>
            </a:avLst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875BFC-F62C-4C2E-A408-06B56D7BE6AD}"/>
              </a:ext>
            </a:extLst>
          </p:cNvPr>
          <p:cNvSpPr>
            <a:spLocks noGrp="1"/>
          </p:cNvSpPr>
          <p:nvPr/>
        </p:nvSpPr>
        <p:spPr>
          <a:xfrm>
            <a:off x="4095750" y="4552950"/>
            <a:ext cx="7315200" cy="1524000"/>
          </a:xfrm>
          <a:prstGeom prst="roundRect">
            <a:avLst>
              <a:gd name="adj" fmla="val 3750"/>
            </a:avLst>
          </a:prstGeom>
          <a:solidFill>
            <a:srgbClr val="E6F3F1"/>
          </a:solidFill>
          <a:ln w="9525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AB5BA9-E7A0-44B8-8CF9-D684A23579E2}"/>
              </a:ext>
            </a:extLst>
          </p:cNvPr>
          <p:cNvSpPr>
            <a:spLocks noGrp="1"/>
          </p:cNvSpPr>
          <p:nvPr/>
        </p:nvSpPr>
        <p:spPr>
          <a:xfrm>
            <a:off x="4324350" y="4762500"/>
            <a:ext cx="68580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14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0B3D38"/>
                </a:solidFill>
                <a:latin typeface="Aptos"/>
                <a:ea typeface="Aptos"/>
                <a:cs typeface="Aptos"/>
              </a:rPr>
              <a:t>Field-level provenance is visible before launch</a:t>
            </a:r>
          </a:p>
          <a:p>
            <a:pPr marL="0" indent="0" algn="l">
              <a:spcAft>
                <a:spcPts val="8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Supplier notice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identifies the product and lots. </a:t>
            </a:r>
            <a:r>
              <a:rPr sz="13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Inventory rows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carry accepted or rejected status. </a:t>
            </a:r>
            <a:r>
              <a:rPr sz="13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Shelf evidence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remains explicitly unknown until reviewed.</a:t>
            </a:r>
          </a:p>
        </p:txBody>
      </p:sp>
    </p:spTree>
    <p:extLst>
      <p:ext uri="{BB962C8B-B14F-4D97-AF65-F5344CB8AC3E}">
        <p14:creationId xmlns:p14="http://schemas.microsoft.com/office/powerpoint/2010/main" val="1563788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F721-E1D7-4F93-8C0B-8C1E1A7D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Autonomy stops at the evidence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8AE3-BB07-41D6-BE8F-697A1BF42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950"/>
            <a:ext cx="4762500" cy="47625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6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The system can act quickly because uncertainty is never hidden.</a:t>
            </a:r>
          </a:p>
          <a:p>
            <a:pPr marL="0" indent="0" algn="l">
              <a:spcAft>
                <a:spcPts val="13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VERSIONED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Reviewer corrections become new evidence.</a:t>
            </a:r>
          </a:p>
          <a:p>
            <a:pPr marL="0" indent="0" algn="l">
              <a:spcAft>
                <a:spcPts val="13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CONFLICT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Stale reviewer versions cannot overwrite newer work.</a:t>
            </a:r>
          </a:p>
          <a:p>
            <a:pPr marL="0" indent="0" algn="l">
              <a:spcAft>
                <a:spcPts val="13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IMMUTABLE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Confirmation creates the incident snapshot.</a:t>
            </a:r>
          </a:p>
          <a:p>
            <a:pPr marL="0" indent="0" algn="l">
              <a:spcAft>
                <a:spcPts val="13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42318"/>
                </a:solidFill>
                <a:latin typeface="Aptos"/>
                <a:ea typeface="Aptos"/>
                <a:cs typeface="Aptos"/>
              </a:rPr>
              <a:t>BLOCKED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Launch is unavailable before confirmation.</a:t>
            </a:r>
          </a:p>
          <a:p>
            <a:pPr marL="0" indent="0" algn="l">
              <a:spcAft>
                <a:spcPts val="13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47A00"/>
                </a:solidFill>
                <a:latin typeface="Aptos"/>
                <a:ea typeface="Aptos"/>
                <a:cs typeface="Aptos"/>
              </a:rPr>
              <a:t>UNKNOWN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Unreadable shelf evidence escalates to review.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17426A-F966-42C6-9C13-11694049DB53}"/>
              </a:ext>
            </a:extLst>
          </p:cNvPr>
          <p:cNvSpPr>
            <a:spLocks noGrp="1"/>
          </p:cNvSpPr>
          <p:nvPr/>
        </p:nvSpPr>
        <p:spPr>
          <a:xfrm>
            <a:off x="6057900" y="1485900"/>
            <a:ext cx="2171700" cy="46482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8620" y="1504950"/>
            <a:ext cx="2130259" cy="4610100"/>
          </a:xfrm>
          <a:prstGeom prst="roundRect">
            <a:avLst>
              <a:gd name="adj" fmla="val 2679"/>
            </a:avLst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3A5729-2DBC-4C05-8873-26C4974EBDCB}"/>
              </a:ext>
            </a:extLst>
          </p:cNvPr>
          <p:cNvSpPr>
            <a:spLocks noGrp="1"/>
          </p:cNvSpPr>
          <p:nvPr/>
        </p:nvSpPr>
        <p:spPr>
          <a:xfrm>
            <a:off x="8553450" y="1638300"/>
            <a:ext cx="2667000" cy="381000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9525">
            <a:solidFill>
              <a:srgbClr val="EACB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E6D09-8698-4331-89F3-ED8BBF53AEFE}"/>
              </a:ext>
            </a:extLst>
          </p:cNvPr>
          <p:cNvSpPr>
            <a:spLocks noGrp="1"/>
          </p:cNvSpPr>
          <p:nvPr/>
        </p:nvSpPr>
        <p:spPr>
          <a:xfrm>
            <a:off x="8629650" y="16668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C47A00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47A00"/>
                </a:solidFill>
                <a:latin typeface="Aptos"/>
                <a:ea typeface="Aptos"/>
                <a:cs typeface="Aptos"/>
              </a:rPr>
              <a:t>HUMAN EVIDENCE GATE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BC1510-2D23-40C2-9A8C-45F903658CC6}"/>
              </a:ext>
            </a:extLst>
          </p:cNvPr>
          <p:cNvSpPr>
            <a:spLocks noGrp="1"/>
          </p:cNvSpPr>
          <p:nvPr/>
        </p:nvSpPr>
        <p:spPr>
          <a:xfrm>
            <a:off x="8553450" y="2247900"/>
            <a:ext cx="26670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D4B93-2C96-42C7-89EF-2610DF10808D}"/>
              </a:ext>
            </a:extLst>
          </p:cNvPr>
          <p:cNvSpPr>
            <a:spLocks noGrp="1"/>
          </p:cNvSpPr>
          <p:nvPr/>
        </p:nvSpPr>
        <p:spPr>
          <a:xfrm>
            <a:off x="8782050" y="2457450"/>
            <a:ext cx="22098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724"/>
          </a:bodyPr>
          <a:lstStyle/>
          <a:p>
            <a:pPr marL="0" indent="0" algn="l">
              <a:spcAft>
                <a:spcPts val="12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Neutral fallback</a:t>
            </a:r>
          </a:p>
          <a:p>
            <a:pPr marL="0" indent="0" algn="l">
              <a:spcAft>
                <a:spcPts val="8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An arbitrary image never becomes a false match. It stays unknown, preserves provenance, and requires review.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5F015E-3C71-4651-9F92-4739E6B50B04}"/>
              </a:ext>
            </a:extLst>
          </p:cNvPr>
          <p:cNvSpPr>
            <a:spLocks noGrp="1"/>
          </p:cNvSpPr>
          <p:nvPr/>
        </p:nvSpPr>
        <p:spPr>
          <a:xfrm>
            <a:off x="8553450" y="4248150"/>
            <a:ext cx="38100" cy="533400"/>
          </a:xfrm>
          <a:prstGeom prst="rect">
            <a:avLst/>
          </a:prstGeom>
          <a:solidFill>
            <a:srgbClr val="C47A00"/>
          </a:solidFill>
          <a:ln w="0">
            <a:solidFill>
              <a:srgbClr val="C47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E3884-1CAE-4A20-BF01-B79DDD309CC8}"/>
              </a:ext>
            </a:extLst>
          </p:cNvPr>
          <p:cNvSpPr>
            <a:spLocks noGrp="1"/>
          </p:cNvSpPr>
          <p:nvPr/>
        </p:nvSpPr>
        <p:spPr>
          <a:xfrm>
            <a:off x="8686800" y="4248150"/>
            <a:ext cx="253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27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2</a:t>
            </a:r>
            <a:r>
              <a:rPr sz="127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 warnings remain visible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0F7DEE-372C-4C20-85AC-F449420C6317}"/>
              </a:ext>
            </a:extLst>
          </p:cNvPr>
          <p:cNvSpPr>
            <a:spLocks noGrp="1"/>
          </p:cNvSpPr>
          <p:nvPr/>
        </p:nvSpPr>
        <p:spPr>
          <a:xfrm>
            <a:off x="8553450" y="5010150"/>
            <a:ext cx="38100" cy="53340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45E85A-CD3D-413F-98F5-11D4AC34A478}"/>
              </a:ext>
            </a:extLst>
          </p:cNvPr>
          <p:cNvSpPr>
            <a:spLocks noGrp="1"/>
          </p:cNvSpPr>
          <p:nvPr/>
        </p:nvSpPr>
        <p:spPr>
          <a:xfrm>
            <a:off x="8686800" y="5010150"/>
            <a:ext cx="2533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27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1</a:t>
            </a:r>
            <a:r>
              <a:rPr sz="127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 confirmation unlocks launch</a:t>
            </a:r>
          </a:p>
        </p:txBody>
      </p:sp>
    </p:spTree>
    <p:extLst>
      <p:ext uri="{BB962C8B-B14F-4D97-AF65-F5344CB8AC3E}">
        <p14:creationId xmlns:p14="http://schemas.microsoft.com/office/powerpoint/2010/main" val="20014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2C61-4A53-47E3-9FCA-06D5335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Qwen handles the uncertain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5989-85E0-400D-AE2A-A7ED24F6A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950"/>
            <a:ext cx="4876800" cy="47625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6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Qwen reasons where literal rules are not enough.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EXTRACT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Text and rendered-page recall evidence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SEE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Shelf-image interpretation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MATCH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Inventory reasoning across imperfect rows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CLASSIFY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Operational risk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WRITE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Customer communication</a:t>
            </a:r>
          </a:p>
          <a:p>
            <a:pPr marL="0" indent="0" algn="l">
              <a:spcAft>
                <a:spcPts val="14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BRIEF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Management decision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84D73-AD4A-4E85-A0B5-E18B7830F84C}"/>
              </a:ext>
            </a:extLst>
          </p:cNvPr>
          <p:cNvSpPr>
            <a:spLocks noGrp="1"/>
          </p:cNvSpPr>
          <p:nvPr/>
        </p:nvSpPr>
        <p:spPr>
          <a:xfrm>
            <a:off x="6400800" y="158115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20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0B3D38"/>
                </a:solidFill>
                <a:latin typeface="Aptos"/>
                <a:ea typeface="Aptos"/>
                <a:cs typeface="Aptos"/>
              </a:rPr>
              <a:t>Typed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B38AB-AB7C-4A4F-A99D-4E2FEA9214AB}"/>
              </a:ext>
            </a:extLst>
          </p:cNvPr>
          <p:cNvSpPr>
            <a:spLocks noGrp="1"/>
          </p:cNvSpPr>
          <p:nvPr/>
        </p:nvSpPr>
        <p:spPr>
          <a:xfrm>
            <a:off x="6400800" y="231457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DA5237-1074-41E6-BEA6-93001745959B}"/>
              </a:ext>
            </a:extLst>
          </p:cNvPr>
          <p:cNvSpPr>
            <a:spLocks noGrp="1"/>
          </p:cNvSpPr>
          <p:nvPr/>
        </p:nvSpPr>
        <p:spPr>
          <a:xfrm>
            <a:off x="6819900" y="22479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01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Structured JSON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C9E596-08BE-4DF3-85FA-17C060743901}"/>
              </a:ext>
            </a:extLst>
          </p:cNvPr>
          <p:cNvSpPr>
            <a:spLocks noGrp="1"/>
          </p:cNvSpPr>
          <p:nvPr/>
        </p:nvSpPr>
        <p:spPr>
          <a:xfrm>
            <a:off x="6400800" y="282892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9E248-48DE-4726-8F29-A7B904595117}"/>
              </a:ext>
            </a:extLst>
          </p:cNvPr>
          <p:cNvSpPr>
            <a:spLocks noGrp="1"/>
          </p:cNvSpPr>
          <p:nvPr/>
        </p:nvSpPr>
        <p:spPr>
          <a:xfrm>
            <a:off x="6819900" y="2762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02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Pydantic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5F2987-D25E-4119-AAC8-8264DACC307B}"/>
              </a:ext>
            </a:extLst>
          </p:cNvPr>
          <p:cNvSpPr>
            <a:spLocks noGrp="1"/>
          </p:cNvSpPr>
          <p:nvPr/>
        </p:nvSpPr>
        <p:spPr>
          <a:xfrm>
            <a:off x="6400800" y="334327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B5066D-2CA3-4354-88FF-0FAA5F182691}"/>
              </a:ext>
            </a:extLst>
          </p:cNvPr>
          <p:cNvSpPr>
            <a:spLocks noGrp="1"/>
          </p:cNvSpPr>
          <p:nvPr/>
        </p:nvSpPr>
        <p:spPr>
          <a:xfrm>
            <a:off x="6819900" y="32766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03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Explicit provider source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DFB12F-8FDB-4B31-A927-13C6316248D5}"/>
              </a:ext>
            </a:extLst>
          </p:cNvPr>
          <p:cNvSpPr>
            <a:spLocks noGrp="1"/>
          </p:cNvSpPr>
          <p:nvPr/>
        </p:nvSpPr>
        <p:spPr>
          <a:xfrm>
            <a:off x="6400800" y="385762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460DF-E78A-4095-BBE2-0CD3F0C79C0C}"/>
              </a:ext>
            </a:extLst>
          </p:cNvPr>
          <p:cNvSpPr>
            <a:spLocks noGrp="1"/>
          </p:cNvSpPr>
          <p:nvPr/>
        </p:nvSpPr>
        <p:spPr>
          <a:xfrm>
            <a:off x="6819900" y="37909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04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Bounded retries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9D5B80-1B5B-4286-9620-92C429A8B330}"/>
              </a:ext>
            </a:extLst>
          </p:cNvPr>
          <p:cNvSpPr>
            <a:spLocks noGrp="1"/>
          </p:cNvSpPr>
          <p:nvPr/>
        </p:nvSpPr>
        <p:spPr>
          <a:xfrm>
            <a:off x="6400800" y="437197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887C9-0313-4101-90F4-BA7FF15B84C4}"/>
              </a:ext>
            </a:extLst>
          </p:cNvPr>
          <p:cNvSpPr>
            <a:spLocks noGrp="1"/>
          </p:cNvSpPr>
          <p:nvPr/>
        </p:nvSpPr>
        <p:spPr>
          <a:xfrm>
            <a:off x="6819900" y="43053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05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Neutral or literal fallback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E4B33-BAAC-4BC3-A75A-AC4EC8CE840B}"/>
              </a:ext>
            </a:extLst>
          </p:cNvPr>
          <p:cNvSpPr>
            <a:spLocks noGrp="1"/>
          </p:cNvSpPr>
          <p:nvPr/>
        </p:nvSpPr>
        <p:spPr>
          <a:xfrm>
            <a:off x="6400800" y="4886325"/>
            <a:ext cx="304800" cy="19050"/>
          </a:xfrm>
          <a:prstGeom prst="rect">
            <a:avLst/>
          </a:prstGeom>
          <a:solidFill>
            <a:srgbClr val="087C72"/>
          </a:solidFill>
          <a:ln w="0">
            <a:solidFill>
              <a:srgbClr val="08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703536-F208-4981-B203-65FEF62FB97A}"/>
              </a:ext>
            </a:extLst>
          </p:cNvPr>
          <p:cNvSpPr>
            <a:spLocks noGrp="1"/>
          </p:cNvSpPr>
          <p:nvPr/>
        </p:nvSpPr>
        <p:spPr>
          <a:xfrm>
            <a:off x="6819900" y="4819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15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06</a:t>
            </a:r>
            <a:r>
              <a:rPr sz="150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 Reviewer escalation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0B5286-C410-45B7-8366-7B2BDAF15EF1}"/>
              </a:ext>
            </a:extLst>
          </p:cNvPr>
          <p:cNvSpPr>
            <a:spLocks noGrp="1"/>
          </p:cNvSpPr>
          <p:nvPr/>
        </p:nvSpPr>
        <p:spPr>
          <a:xfrm>
            <a:off x="6400800" y="5486400"/>
            <a:ext cx="4762500" cy="647700"/>
          </a:xfrm>
          <a:prstGeom prst="roundRect">
            <a:avLst>
              <a:gd name="adj" fmla="val 8824"/>
            </a:avLst>
          </a:prstGeom>
          <a:solidFill>
            <a:srgbClr val="E6F3F1"/>
          </a:solidFill>
          <a:ln w="9525">
            <a:solidFill>
              <a:srgbClr val="B8D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095DF7-0447-4EA6-912C-3ECB67796EBD}"/>
              </a:ext>
            </a:extLst>
          </p:cNvPr>
          <p:cNvSpPr>
            <a:spLocks noGrp="1"/>
          </p:cNvSpPr>
          <p:nvPr/>
        </p:nvSpPr>
        <p:spPr>
          <a:xfrm>
            <a:off x="6610350" y="5619750"/>
            <a:ext cx="434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3"/>
          </a:bodyPr>
          <a:lstStyle/>
          <a:p>
            <a:pPr marL="0" indent="0" algn="l">
              <a:spcAft>
                <a:spcPts val="0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B3D38"/>
                </a:solidFill>
                <a:latin typeface="Aptos"/>
                <a:ea typeface="Aptos"/>
                <a:cs typeface="Aptos"/>
              </a:rPr>
              <a:t>Qwen handles uncertainty. Typed systems decide what may enter the workflow.</a:t>
            </a:r>
          </a:p>
        </p:txBody>
      </p:sp>
    </p:spTree>
    <p:extLst>
      <p:ext uri="{BB962C8B-B14F-4D97-AF65-F5344CB8AC3E}">
        <p14:creationId xmlns:p14="http://schemas.microsoft.com/office/powerpoint/2010/main" val="2108647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6AC3-1E0A-46ED-BCD5-FBFE66B8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Nine specialists share one typed blackboard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577C-6D71-40F0-83E0-AF935CCF5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950"/>
            <a:ext cx="3048000" cy="47244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8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The Agent Society advances in six durable waves.</a:t>
            </a:r>
          </a:p>
          <a:p>
            <a:pPr marL="0" indent="0" algn="l">
              <a:spcAft>
                <a:spcPts val="16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9</a:t>
            </a:r>
            <a:r>
              <a:rPr sz="14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specialist agents</a:t>
            </a:r>
          </a:p>
          <a:p>
            <a:pPr marL="0" indent="0" algn="l">
              <a:spcAft>
                <a:spcPts val="26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0B3D38"/>
                </a:solidFill>
                <a:latin typeface="Aptos"/>
                <a:ea typeface="Aptos"/>
                <a:cs typeface="Aptos"/>
              </a:rPr>
              <a:t>6</a:t>
            </a:r>
            <a:r>
              <a:rPr sz="14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typed waves</a:t>
            </a:r>
          </a:p>
          <a:p>
            <a:pPr marL="0" indent="0" algn="l">
              <a:spcAft>
                <a:spcPts val="16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Independent specialists run in parallel inside a wave.</a:t>
            </a:r>
          </a:p>
          <a:p>
            <a:pPr marL="0" indent="0" algn="l">
              <a:spcAft>
                <a:spcPts val="16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Each wave writes a checkpoint before the next one begins.</a:t>
            </a:r>
          </a:p>
          <a:p>
            <a:pPr marL="0" indent="0" algn="l">
              <a:spcAft>
                <a:spcPts val="16"/>
              </a:spcAft>
              <a:buNone/>
              <a:defRPr sz="14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Failure skips only dependent work, preserving useful results.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EA03C-86AC-4A5B-B91F-F6A4015AA49C}"/>
              </a:ext>
            </a:extLst>
          </p:cNvPr>
          <p:cNvSpPr>
            <a:spLocks noGrp="1"/>
          </p:cNvSpPr>
          <p:nvPr/>
        </p:nvSpPr>
        <p:spPr>
          <a:xfrm>
            <a:off x="42862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B59A9-F171-4885-9112-2B2E44DEFC44}"/>
              </a:ext>
            </a:extLst>
          </p:cNvPr>
          <p:cNvSpPr>
            <a:spLocks noGrp="1"/>
          </p:cNvSpPr>
          <p:nvPr/>
        </p:nvSpPr>
        <p:spPr>
          <a:xfrm>
            <a:off x="54673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B9771-8E2F-43EF-93C9-7FF88C97696C}"/>
              </a:ext>
            </a:extLst>
          </p:cNvPr>
          <p:cNvSpPr>
            <a:spLocks noGrp="1"/>
          </p:cNvSpPr>
          <p:nvPr/>
        </p:nvSpPr>
        <p:spPr>
          <a:xfrm>
            <a:off x="66484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A3C6BB-2617-4AF4-AD54-2BC1B55DA1E3}"/>
              </a:ext>
            </a:extLst>
          </p:cNvPr>
          <p:cNvSpPr>
            <a:spLocks noGrp="1"/>
          </p:cNvSpPr>
          <p:nvPr/>
        </p:nvSpPr>
        <p:spPr>
          <a:xfrm>
            <a:off x="78295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4FDCC-DD12-4E9F-88CE-E7F622534F4E}"/>
              </a:ext>
            </a:extLst>
          </p:cNvPr>
          <p:cNvSpPr>
            <a:spLocks noGrp="1"/>
          </p:cNvSpPr>
          <p:nvPr/>
        </p:nvSpPr>
        <p:spPr>
          <a:xfrm>
            <a:off x="90106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2F162-5FD6-4800-837D-C4C22BBB3C7B}"/>
              </a:ext>
            </a:extLst>
          </p:cNvPr>
          <p:cNvSpPr>
            <a:spLocks noGrp="1"/>
          </p:cNvSpPr>
          <p:nvPr/>
        </p:nvSpPr>
        <p:spPr>
          <a:xfrm>
            <a:off x="10306050" y="1485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5B6F6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DCF7F5-881C-4FA9-BB53-654E0BF8E77A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10287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Recall
Intake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F83EC5C-7D46-4A2B-940C-CE3E71AB943D}"/>
              </a:ext>
            </a:extLst>
          </p:cNvPr>
          <p:cNvSpPr>
            <a:spLocks noGrp="1"/>
          </p:cNvSpPr>
          <p:nvPr/>
        </p:nvSpPr>
        <p:spPr>
          <a:xfrm>
            <a:off x="5467350" y="2266950"/>
            <a:ext cx="1028700" cy="6286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Document
Extraction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C608A92-6048-4570-87D8-8F47F9EA861D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1028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Inventory
Matching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02F5D04-2040-4DD5-8D55-3F83CFD34CEA}"/>
              </a:ext>
            </a:extLst>
          </p:cNvPr>
          <p:cNvSpPr>
            <a:spLocks noGrp="1"/>
          </p:cNvSpPr>
          <p:nvPr/>
        </p:nvSpPr>
        <p:spPr>
          <a:xfrm>
            <a:off x="6648450" y="2686050"/>
            <a:ext cx="1028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47A00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Shelf
Vision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2E78B3-8F8B-4049-BCAF-1E40DCFF6C12}"/>
              </a:ext>
            </a:extLst>
          </p:cNvPr>
          <p:cNvSpPr>
            <a:spLocks noGrp="1"/>
          </p:cNvSpPr>
          <p:nvPr/>
        </p:nvSpPr>
        <p:spPr>
          <a:xfrm>
            <a:off x="7829550" y="1924050"/>
            <a:ext cx="1028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42318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Risk
Scoring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664A8C3-2A39-4ADB-971F-CE6FB368DDDD}"/>
              </a:ext>
            </a:extLst>
          </p:cNvPr>
          <p:cNvSpPr>
            <a:spLocks noGrp="1"/>
          </p:cNvSpPr>
          <p:nvPr/>
        </p:nvSpPr>
        <p:spPr>
          <a:xfrm>
            <a:off x="7829550" y="2686050"/>
            <a:ext cx="1028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EC09146-F730-4511-B356-1196A87315C4}"/>
              </a:ext>
            </a:extLst>
          </p:cNvPr>
          <p:cNvSpPr>
            <a:spLocks noGrp="1"/>
          </p:cNvSpPr>
          <p:nvPr/>
        </p:nvSpPr>
        <p:spPr>
          <a:xfrm>
            <a:off x="9010650" y="1924050"/>
            <a:ext cx="10287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Operations
Task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C5F984-1002-4636-8C3E-DD368301D16A}"/>
              </a:ext>
            </a:extLst>
          </p:cNvPr>
          <p:cNvSpPr>
            <a:spLocks noGrp="1"/>
          </p:cNvSpPr>
          <p:nvPr/>
        </p:nvSpPr>
        <p:spPr>
          <a:xfrm>
            <a:off x="9010650" y="2686050"/>
            <a:ext cx="116205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05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Communications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ADCE7A4-E669-4DB8-879D-3310E39878B7}"/>
              </a:ext>
            </a:extLst>
          </p:cNvPr>
          <p:cNvSpPr>
            <a:spLocks noGrp="1"/>
          </p:cNvSpPr>
          <p:nvPr/>
        </p:nvSpPr>
        <p:spPr>
          <a:xfrm>
            <a:off x="10306050" y="2266950"/>
            <a:ext cx="1028700" cy="628650"/>
          </a:xfrm>
          <a:prstGeom prst="roundRect">
            <a:avLst>
              <a:gd name="adj" fmla="val 9091"/>
            </a:avLst>
          </a:prstGeom>
          <a:solidFill>
            <a:srgbClr val="0B3D38"/>
          </a:solidFill>
          <a:ln w="9525">
            <a:solidFill>
              <a:srgbClr val="0B3D38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Compliance
Evidence</a:t>
            </a:r>
          </a:p>
        </p:txBody>
      </p:sp>
      <p:cxnSp>
        <p:nvCxnSpPr>
          <p:cNvPr id="52" name="Straight Arrow Connector 51"/>
          <p:cNvCxnSpPr>
            <a:stCxn id="10" idx="3"/>
            <a:endCxn id="11" idx="1"/>
          </p:cNvCxnSpPr>
          <p:nvPr/>
        </p:nvCxnSpPr>
        <p:spPr>
          <a:xfrm>
            <a:off x="5314950" y="2581275"/>
            <a:ext cx="15240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3" name="Elbow Connector 52"/>
          <p:cNvCxnSpPr>
            <a:stCxn id="11" idx="3"/>
            <a:endCxn id="12" idx="1"/>
          </p:cNvCxnSpPr>
          <p:nvPr/>
        </p:nvCxnSpPr>
        <p:spPr>
          <a:xfrm flipV="1">
            <a:off x="6496050" y="2200275"/>
            <a:ext cx="152400" cy="381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4" name="Elbow Connector 53"/>
          <p:cNvCxnSpPr>
            <a:stCxn id="11" idx="3"/>
            <a:endCxn id="13" idx="1"/>
          </p:cNvCxnSpPr>
          <p:nvPr/>
        </p:nvCxnSpPr>
        <p:spPr>
          <a:xfrm>
            <a:off x="6496050" y="2581275"/>
            <a:ext cx="152400" cy="381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5" name="Straight Arrow Connector 54"/>
          <p:cNvCxnSpPr>
            <a:stCxn id="12" idx="3"/>
            <a:endCxn id="14" idx="1"/>
          </p:cNvCxnSpPr>
          <p:nvPr/>
        </p:nvCxnSpPr>
        <p:spPr>
          <a:xfrm>
            <a:off x="7677150" y="2200275"/>
            <a:ext cx="15240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6" name="Elbow Connector 55"/>
          <p:cNvCxnSpPr>
            <a:stCxn id="12" idx="3"/>
            <a:endCxn id="15" idx="1"/>
          </p:cNvCxnSpPr>
          <p:nvPr/>
        </p:nvCxnSpPr>
        <p:spPr>
          <a:xfrm>
            <a:off x="7677150" y="2200275"/>
            <a:ext cx="152400" cy="762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7" name="Elbow Connector 56"/>
          <p:cNvCxnSpPr>
            <a:stCxn id="13" idx="3"/>
            <a:endCxn id="14" idx="1"/>
          </p:cNvCxnSpPr>
          <p:nvPr/>
        </p:nvCxnSpPr>
        <p:spPr>
          <a:xfrm flipV="1">
            <a:off x="7677150" y="2200275"/>
            <a:ext cx="152400" cy="762000"/>
          </a:xfrm>
          <a:prstGeom prst="bentConnector3">
            <a:avLst>
              <a:gd name="adj1" fmla="val 50000"/>
            </a:avLst>
          </a:prstGeom>
          <a:ln w="19050">
            <a:solidFill>
              <a:srgbClr val="D7B56D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8" name="Straight Arrow Connector 57"/>
          <p:cNvCxnSpPr>
            <a:stCxn id="14" idx="3"/>
            <a:endCxn id="16" idx="1"/>
          </p:cNvCxnSpPr>
          <p:nvPr/>
        </p:nvCxnSpPr>
        <p:spPr>
          <a:xfrm>
            <a:off x="8858250" y="2200275"/>
            <a:ext cx="15240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9" name="Elbow Connector 58"/>
          <p:cNvCxnSpPr>
            <a:stCxn id="14" idx="3"/>
            <a:endCxn id="17" idx="1"/>
          </p:cNvCxnSpPr>
          <p:nvPr/>
        </p:nvCxnSpPr>
        <p:spPr>
          <a:xfrm>
            <a:off x="8858250" y="2200275"/>
            <a:ext cx="152400" cy="762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0" name="Elbow Connector 59"/>
          <p:cNvCxnSpPr>
            <a:stCxn id="15" idx="3"/>
            <a:endCxn id="16" idx="1"/>
          </p:cNvCxnSpPr>
          <p:nvPr/>
        </p:nvCxnSpPr>
        <p:spPr>
          <a:xfrm flipV="1">
            <a:off x="8858250" y="2200275"/>
            <a:ext cx="152400" cy="762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1" name="Straight Arrow Connector 60"/>
          <p:cNvCxnSpPr>
            <a:stCxn id="15" idx="3"/>
            <a:endCxn id="17" idx="1"/>
          </p:cNvCxnSpPr>
          <p:nvPr/>
        </p:nvCxnSpPr>
        <p:spPr>
          <a:xfrm>
            <a:off x="8858250" y="2962275"/>
            <a:ext cx="15240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2" name="Elbow Connector 61"/>
          <p:cNvCxnSpPr>
            <a:stCxn id="16" idx="3"/>
            <a:endCxn id="18" idx="1"/>
          </p:cNvCxnSpPr>
          <p:nvPr/>
        </p:nvCxnSpPr>
        <p:spPr>
          <a:xfrm>
            <a:off x="10039350" y="2200275"/>
            <a:ext cx="266700" cy="381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3" name="Elbow Connector 62"/>
          <p:cNvCxnSpPr>
            <a:stCxn id="17" idx="3"/>
            <a:endCxn id="18" idx="1"/>
          </p:cNvCxnSpPr>
          <p:nvPr/>
        </p:nvCxnSpPr>
        <p:spPr>
          <a:xfrm flipV="1">
            <a:off x="10172700" y="2581275"/>
            <a:ext cx="133350" cy="381000"/>
          </a:xfrm>
          <a:prstGeom prst="bentConnector3">
            <a:avLst>
              <a:gd name="adj1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C39C159-3EA0-4B5C-A6D5-3C34CEB85E64}"/>
              </a:ext>
            </a:extLst>
          </p:cNvPr>
          <p:cNvSpPr>
            <a:spLocks noGrp="1"/>
          </p:cNvSpPr>
          <p:nvPr/>
        </p:nvSpPr>
        <p:spPr>
          <a:xfrm>
            <a:off x="4286250" y="3543300"/>
            <a:ext cx="1866900" cy="285750"/>
          </a:xfrm>
          <a:prstGeom prst="roundRect">
            <a:avLst>
              <a:gd name="adj" fmla="val 20000"/>
            </a:avLst>
          </a:prstGeom>
          <a:solidFill>
            <a:srgbClr val="E6F3F1"/>
          </a:solidFill>
          <a:ln w="9525">
            <a:solidFill>
              <a:srgbClr val="E6F3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953843-179C-45F6-B613-B7637671B7FF}"/>
              </a:ext>
            </a:extLst>
          </p:cNvPr>
          <p:cNvSpPr>
            <a:spLocks noGrp="1"/>
          </p:cNvSpPr>
          <p:nvPr/>
        </p:nvSpPr>
        <p:spPr>
          <a:xfrm>
            <a:off x="4362450" y="35718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975" b="1">
                <a:solidFill>
                  <a:srgbClr val="087C7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REAL MISSION CONTROL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EBAE474-9FED-4BF3-A4E5-AFD77D68A122}"/>
              </a:ext>
            </a:extLst>
          </p:cNvPr>
          <p:cNvSpPr>
            <a:spLocks noGrp="1"/>
          </p:cNvSpPr>
          <p:nvPr/>
        </p:nvSpPr>
        <p:spPr>
          <a:xfrm>
            <a:off x="4267200" y="3981450"/>
            <a:ext cx="6972300" cy="215265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6E3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rcRect t="32652" b="32652"/>
          <a:stretch>
            <a:fillRect/>
          </a:stretch>
        </p:blipFill>
        <p:spPr>
          <a:xfrm>
            <a:off x="4286250" y="4000500"/>
            <a:ext cx="6934200" cy="2114550"/>
          </a:xfrm>
          <a:prstGeom prst="roundRect">
            <a:avLst>
              <a:gd name="adj" fmla="val 2703"/>
            </a:avLst>
          </a:prstGeom>
        </p:spPr>
      </p:pic>
    </p:spTree>
    <p:extLst>
      <p:ext uri="{BB962C8B-B14F-4D97-AF65-F5344CB8AC3E}">
        <p14:creationId xmlns:p14="http://schemas.microsoft.com/office/powerpoint/2010/main" val="46734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D6AE-8ADB-4D5F-A80E-545FA590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9100"/>
            <a:ext cx="10934700" cy="781050"/>
          </a:xfrm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sz="3600" b="1">
                <a:solidFill>
                  <a:srgbClr val="13292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132925"/>
                </a:solidFill>
                <a:latin typeface="Aptos Display"/>
                <a:ea typeface="Aptos Display"/>
                <a:cs typeface="Aptos Display"/>
              </a:rPr>
              <a:t>Every event survives before it appears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86F71-5261-4A18-B921-541BF4FE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4950"/>
            <a:ext cx="3105150" cy="4724400"/>
          </a:xfrm>
        </p:spPr>
        <p:txBody>
          <a:bodyPr wrap="square" lIns="0" tIns="0" rIns="76200" bIns="0" anchor="t">
            <a:normAutofit/>
          </a:bodyPr>
          <a:lstStyle/>
          <a:p>
            <a:pPr marL="0" indent="0" algn="l">
              <a:spcAft>
                <a:spcPts val="26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Durability is split by responsibility, not hidden in one database box.</a:t>
            </a:r>
          </a:p>
          <a:p>
            <a:pPr marL="0" indent="0" algn="l">
              <a:spcAft>
                <a:spcPts val="15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IDEMPOTENT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Request UUIDs prevent duplicate runs.</a:t>
            </a:r>
          </a:p>
          <a:p>
            <a:pPr marL="0" indent="0" algn="l">
              <a:spcAft>
                <a:spcPts val="15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ORDERED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Events persist before SSE publishes.</a:t>
            </a:r>
          </a:p>
          <a:p>
            <a:pPr marL="0" indent="0" algn="l">
              <a:spcAft>
                <a:spcPts val="15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REPLAYABLE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Refresh resumes ordered history.</a:t>
            </a:r>
          </a:p>
          <a:p>
            <a:pPr marL="0" indent="0" algn="l">
              <a:spcAft>
                <a:spcPts val="15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RESUMABLE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Typed wave checkpoints restart safely.</a:t>
            </a:r>
          </a:p>
          <a:p>
            <a:pPr marL="0" indent="0" algn="l">
              <a:spcAft>
                <a:spcPts val="15"/>
              </a:spcAft>
              <a:buNone/>
              <a:defRPr sz="135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RECOVERED</a:t>
            </a:r>
            <a:r>
              <a:rPr sz="1350" b="0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  Startup repairs non-terminal work.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26D0B11-8DB3-41CB-9F56-FD61FE522E43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12573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Intake API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D6BDBC-8361-49D4-86B4-A907B184369B}"/>
              </a:ext>
            </a:extLst>
          </p:cNvPr>
          <p:cNvSpPr>
            <a:spLocks noGrp="1"/>
          </p:cNvSpPr>
          <p:nvPr/>
        </p:nvSpPr>
        <p:spPr>
          <a:xfrm>
            <a:off x="6210300" y="17335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0B3D38"/>
          </a:solidFill>
          <a:ln w="9525">
            <a:solidFill>
              <a:srgbClr val="0B3D38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
Orchestrator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DC5CCE1-177D-45E5-BA48-28C71FFB0248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Ordered
SSE stream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40EC12-658B-4625-9587-CF4334D7441B}"/>
              </a:ext>
            </a:extLst>
          </p:cNvPr>
          <p:cNvSpPr>
            <a:spLocks noGrp="1"/>
          </p:cNvSpPr>
          <p:nvPr/>
        </p:nvSpPr>
        <p:spPr>
          <a:xfrm>
            <a:off x="10020300" y="1733550"/>
            <a:ext cx="1352550" cy="70485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087C72"/>
            </a:solidFill>
            <a:prstDash val="solid"/>
          </a:ln>
        </p:spPr>
        <p:txBody>
          <a:bodyPr wrap="square" lIns="57150" tIns="57150" rIns="57150" bIns="5715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1200" b="1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Mission
Control</a:t>
            </a:r>
          </a:p>
        </p:txBody>
      </p:sp>
      <p:cxnSp>
        <p:nvCxnSpPr>
          <p:cNvPr id="28" name="Straight Arrow Connector 27"/>
          <p:cNvCxnSpPr>
            <a:stCxn id="4" idx="3"/>
            <a:endCxn id="5" idx="1"/>
          </p:cNvCxnSpPr>
          <p:nvPr/>
        </p:nvCxnSpPr>
        <p:spPr>
          <a:xfrm>
            <a:off x="5657850" y="2085975"/>
            <a:ext cx="55245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29" name="Straight Arrow Connector 28"/>
          <p:cNvCxnSpPr>
            <a:stCxn id="5" idx="3"/>
            <a:endCxn id="6" idx="1"/>
          </p:cNvCxnSpPr>
          <p:nvPr/>
        </p:nvCxnSpPr>
        <p:spPr>
          <a:xfrm>
            <a:off x="7562850" y="2085975"/>
            <a:ext cx="55245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0" name="Straight Arrow Connector 29"/>
          <p:cNvCxnSpPr>
            <a:stCxn id="6" idx="3"/>
            <a:endCxn id="7" idx="1"/>
          </p:cNvCxnSpPr>
          <p:nvPr/>
        </p:nvCxnSpPr>
        <p:spPr>
          <a:xfrm>
            <a:off x="9467850" y="2085975"/>
            <a:ext cx="552450" cy="0"/>
          </a:xfrm>
          <a:prstGeom prst="straightConnector1">
            <a:avLst/>
          </a:prstGeom>
          <a:ln w="19050">
            <a:solidFill>
              <a:srgbClr val="D6E3DF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AC137-056C-4AF0-9D66-21E634B4884F}"/>
              </a:ext>
            </a:extLst>
          </p:cNvPr>
          <p:cNvSpPr>
            <a:spLocks noGrp="1"/>
          </p:cNvSpPr>
          <p:nvPr/>
        </p:nvSpPr>
        <p:spPr>
          <a:xfrm>
            <a:off x="7715250" y="1352550"/>
            <a:ext cx="2152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 sz="975" b="1">
                <a:solidFill>
                  <a:srgbClr val="087C7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87C72"/>
                </a:solidFill>
                <a:latin typeface="Aptos"/>
                <a:ea typeface="Aptos"/>
                <a:cs typeface="Aptos"/>
              </a:rPr>
              <a:t>PERSIST BEFORE PUBLISH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156681-EB9F-49FE-9F27-4CAC03995782}"/>
              </a:ext>
            </a:extLst>
          </p:cNvPr>
          <p:cNvSpPr>
            <a:spLocks noGrp="1"/>
          </p:cNvSpPr>
          <p:nvPr/>
        </p:nvSpPr>
        <p:spPr>
          <a:xfrm>
            <a:off x="4324350" y="3600450"/>
            <a:ext cx="16002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087C72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spcAft>
                <a:spcPts val="1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Intake store</a:t>
            </a:r>
          </a:p>
          <a:p>
            <a:pPr marL="0" indent="0" algn="ctr">
              <a:spcAft>
                <a:spcPts val="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Lifecycle + confirmed snapshots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4178AE-4EDB-4CCF-B658-3DEA4F6C394B}"/>
              </a:ext>
            </a:extLst>
          </p:cNvPr>
          <p:cNvSpPr>
            <a:spLocks noGrp="1"/>
          </p:cNvSpPr>
          <p:nvPr/>
        </p:nvSpPr>
        <p:spPr>
          <a:xfrm>
            <a:off x="6096000" y="3600450"/>
            <a:ext cx="16002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C47A00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spcAft>
                <a:spcPts val="1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Artifact files</a:t>
            </a:r>
          </a:p>
          <a:p>
            <a:pPr marL="0" indent="0" algn="ctr">
              <a:spcAft>
                <a:spcPts val="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Immutable uploaded evidence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FA926D-8DF7-4C91-894D-6ACB2275098C}"/>
              </a:ext>
            </a:extLst>
          </p:cNvPr>
          <p:cNvSpPr>
            <a:spLocks noGrp="1"/>
          </p:cNvSpPr>
          <p:nvPr/>
        </p:nvSpPr>
        <p:spPr>
          <a:xfrm>
            <a:off x="7867650" y="3600450"/>
            <a:ext cx="16002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087C72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spcAft>
                <a:spcPts val="1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Run + event store</a:t>
            </a:r>
          </a:p>
          <a:p>
            <a:pPr marL="0" indent="0" algn="ctr">
              <a:spcAft>
                <a:spcPts val="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Events + wave checkpoints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E7F768-7919-4B4D-BF81-AD98246DAF23}"/>
              </a:ext>
            </a:extLst>
          </p:cNvPr>
          <p:cNvSpPr>
            <a:spLocks noGrp="1"/>
          </p:cNvSpPr>
          <p:nvPr/>
        </p:nvSpPr>
        <p:spPr>
          <a:xfrm>
            <a:off x="9639300" y="3600450"/>
            <a:ext cx="16002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B42318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/>
          <a:p>
            <a:pPr marL="0" indent="0" algn="ctr">
              <a:spcAft>
                <a:spcPts val="1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Memory + review</a:t>
            </a:r>
          </a:p>
          <a:p>
            <a:pPr marL="0" indent="0" algn="ctr">
              <a:spcAft>
                <a:spcPts val="0"/>
              </a:spcAft>
              <a:buNone/>
              <a:defRPr sz="1125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Decision and reviewer ledgers</a:t>
            </a:r>
          </a:p>
        </p:txBody>
      </p:sp>
      <p:cxnSp>
        <p:nvCxnSpPr>
          <p:cNvPr id="36" name="Elbow Connector 35"/>
          <p:cNvCxnSpPr>
            <a:stCxn id="4" idx="2"/>
            <a:endCxn id="12" idx="0"/>
          </p:cNvCxnSpPr>
          <p:nvPr/>
        </p:nvCxnSpPr>
        <p:spPr>
          <a:xfrm>
            <a:off x="5029200" y="2362200"/>
            <a:ext cx="95250" cy="1238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" name="Elbow Connector 36"/>
          <p:cNvCxnSpPr>
            <a:stCxn id="4" idx="2"/>
            <a:endCxn id="13" idx="0"/>
          </p:cNvCxnSpPr>
          <p:nvPr/>
        </p:nvCxnSpPr>
        <p:spPr>
          <a:xfrm>
            <a:off x="5029200" y="2362200"/>
            <a:ext cx="1866900" cy="1238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7B56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" name="Elbow Connector 37"/>
          <p:cNvCxnSpPr>
            <a:stCxn id="5" idx="2"/>
            <a:endCxn id="14" idx="0"/>
          </p:cNvCxnSpPr>
          <p:nvPr/>
        </p:nvCxnSpPr>
        <p:spPr>
          <a:xfrm>
            <a:off x="6886575" y="2438400"/>
            <a:ext cx="1781175" cy="1162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6E3D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Elbow Connector 38"/>
          <p:cNvCxnSpPr>
            <a:stCxn id="5" idx="2"/>
            <a:endCxn id="15" idx="0"/>
          </p:cNvCxnSpPr>
          <p:nvPr/>
        </p:nvCxnSpPr>
        <p:spPr>
          <a:xfrm>
            <a:off x="6886575" y="2438400"/>
            <a:ext cx="3552825" cy="1162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9A39E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5AFE64D-26AC-4552-9D2E-942A2126A0C8}"/>
              </a:ext>
            </a:extLst>
          </p:cNvPr>
          <p:cNvSpPr>
            <a:spLocks noGrp="1"/>
          </p:cNvSpPr>
          <p:nvPr/>
        </p:nvSpPr>
        <p:spPr>
          <a:xfrm>
            <a:off x="4324350" y="5105400"/>
            <a:ext cx="6915150" cy="704850"/>
          </a:xfrm>
          <a:prstGeom prst="roundRect">
            <a:avLst>
              <a:gd name="adj" fmla="val 8108"/>
            </a:avLst>
          </a:prstGeom>
          <a:solidFill>
            <a:srgbClr val="FFF3D6"/>
          </a:solidFill>
          <a:ln w="9525">
            <a:solidFill>
              <a:srgbClr val="EACB8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93F84-4BFD-46E4-84E4-1F7E4BEF04CE}"/>
              </a:ext>
            </a:extLst>
          </p:cNvPr>
          <p:cNvSpPr>
            <a:spLocks noGrp="1"/>
          </p:cNvSpPr>
          <p:nvPr/>
        </p:nvSpPr>
        <p:spPr>
          <a:xfrm>
            <a:off x="4552950" y="5257800"/>
            <a:ext cx="645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595"/>
          </a:bodyPr>
          <a:lstStyle/>
          <a:p>
            <a:pPr marL="0" indent="0" algn="l">
              <a:spcAft>
                <a:spcPts val="0"/>
              </a:spcAft>
              <a:buNone/>
              <a:defRPr sz="1200" b="0">
                <a:solidFill>
                  <a:srgbClr val="132925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32925"/>
                </a:solidFill>
                <a:latin typeface="Aptos"/>
                <a:ea typeface="Aptos"/>
                <a:cs typeface="Aptos"/>
              </a:rPr>
              <a:t>Current SQLite lifecycle: one API replica</a:t>
            </a:r>
            <a:r>
              <a:rPr sz="1200" b="0" i="0">
                <a:solidFill>
                  <a:srgbClr val="5B6F6A"/>
                </a:solidFill>
                <a:latin typeface="Aptos"/>
                <a:ea typeface="Aptos"/>
                <a:cs typeface="Aptos"/>
              </a:rPr>
              <a:t>   Honest scope today; repositories preserve a clean path to distributed storage.</a:t>
            </a:r>
          </a:p>
        </p:txBody>
      </p:sp>
    </p:spTree>
    <p:extLst>
      <p:ext uri="{BB962C8B-B14F-4D97-AF65-F5344CB8AC3E}">
        <p14:creationId xmlns:p14="http://schemas.microsoft.com/office/powerpoint/2010/main" val="155116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9728-6A1D-424E-8DE9-74AC0CEE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3200">
                <a:solidFill>
                  <a:srgbClr val="1F6FEB"/>
                </a:solidFill>
              </a:defRPr>
            </a:pPr>
            <a:r>
              <a:t>Benchmark: Agent Society vs. Single-Agent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32D6-BDE7-4FCA-8DA4-2791F6663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Same nine specialist agents, same demo incident, only the execution strategy differs — measured with services/api/scripts/benchmark_agent_society.py.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Latency: the 6-wave DAG completed 1.49x faster than a strictly sequential single-agent pipeline at identical per-agent cost.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Failure isolation: forcing one agent to fail, the DAG still delivered 4/9 completed agents with clean downstream skips; the sequential baseline aborted the entire run after 3/9 agents.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Checkpoint/resume: after a simulated crash, the DAG re-ran only 3/9 agents (33%) from its last checkpoint; the baseline has no resume mechanism and would re-run 9/9 (100%).</a:t>
            </a:r>
          </a:p>
        </p:txBody>
      </p:sp>
    </p:spTree>
    <p:extLst>
      <p:ext uri="{BB962C8B-B14F-4D97-AF65-F5344CB8AC3E}">
        <p14:creationId xmlns:p14="http://schemas.microsoft.com/office/powerpoint/2010/main" val="133296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BE9B-2AAC-411B-98E3-742853BD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3200">
                <a:solidFill>
                  <a:srgbClr val="1F6FEB"/>
                </a:solidFill>
              </a:defRPr>
            </a:pPr>
            <a:r>
              <a:t>Impact &amp; Judging Criteria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F59C1-19B6-4DEF-AA1A-C8E47814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Problem value: recall response for small grocers, restaurants, pharmacies, cafeterias, and distributors that lack enterprise tooling — with an audit-ready evidence packet as the output that matters.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Innovation &amp; AI creativity: a real multi-agent society, Qwen-driven structured reasoning, conflict reconciliation between model output and ground truth, and persistent cross-run memory.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Technical depth: DAG orchestration with parallel waves, retries, typed restart checkpoints, persisted SSE replay, validated Qwen schemas, idempotent SQLite ledgers, Docker/Compose/CI.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Presentation &amp; docs: README, architecture diagram, Qwen integration guide, deployment guide, demo script, and an honest known-limitations doc.</a:t>
            </a:r>
          </a:p>
        </p:txBody>
      </p:sp>
    </p:spTree>
    <p:extLst>
      <p:ext uri="{BB962C8B-B14F-4D97-AF65-F5344CB8AC3E}">
        <p14:creationId xmlns:p14="http://schemas.microsoft.com/office/powerpoint/2010/main" val="203807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EBE0-D5C7-4610-BE00-124DCC0E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  <a:defRPr sz="3200">
                <a:solidFill>
                  <a:srgbClr val="1F6FEB"/>
                </a:solidFill>
              </a:defRPr>
            </a:pPr>
            <a:r>
              <a:t>Demo &amp;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7DEEF-0C49-435F-B11A-AFF9A8ED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Repository: github.com/ankitranjan-dsai/batchhelm-ai (MIT license)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Architecture: docs/architecture.md   ·   Qwen integration: docs/qwen-integration.md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Sample evidence packet: docs/sample-evidence-packet.md   ·   Sample walkthrough: docs/sample-incident-walkthrough.md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Benchmark report: docs/benchmarks/agent-society-vs-single-agent.md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Demo script: docs/demo-script.md</a:t>
            </a:r>
          </a:p>
          <a:p>
            <a:pPr>
              <a:buNone/>
            </a:pPr>
            <a:r>
              <a:rPr sz="1800">
                <a:solidFill>
                  <a:srgbClr val="222222"/>
                </a:solidFill>
              </a:rPr>
              <a:t>Live deployment URL and demo video: in progress — tracked in docs/submission-checklist.md</a:t>
            </a:r>
          </a:p>
        </p:txBody>
      </p:sp>
    </p:spTree>
    <p:extLst>
      <p:ext uri="{BB962C8B-B14F-4D97-AF65-F5344CB8AC3E}">
        <p14:creationId xmlns:p14="http://schemas.microsoft.com/office/powerpoint/2010/main" val="210664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Macintosh PowerPoint</Application>
  <DocSecurity>0</DocSecurity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Office Theme</vt:lpstr>
      <vt:lpstr>BatchHelm</vt:lpstr>
      <vt:lpstr>Recalls create five unanswered questions</vt:lpstr>
      <vt:lpstr>Files, Review, Launch</vt:lpstr>
      <vt:lpstr>Autonomy stops at the evidence gate</vt:lpstr>
      <vt:lpstr>Qwen handles the uncertain work</vt:lpstr>
      <vt:lpstr>Nine specialists share one typed blackboard</vt:lpstr>
      <vt:lpstr>Every event survives before it appears</vt:lpstr>
      <vt:lpstr>Benchmark: Agent Society vs. Single-Agent Baseline</vt:lpstr>
      <vt:lpstr>Impact &amp; Judging Criteria Coverage</vt:lpstr>
      <vt:lpstr>Demo &amp; 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BatchHelm AI - Qwen Global AI Hackathon</dc:title>
  <dc:subject>Production-shaped recall autopilot</dc:subject>
  <dc:creator>Ankit Ranjan</dc:creator>
  <dc:description>BatchHelm hackathon presentation</dc:description>
  <cp:lastModifiedBy>Ankit Ranjan</cp:lastModifiedBy>
  <cp:revision>1</cp:revision>
  <dcterms:created xsi:type="dcterms:W3CDTF">2026-07-04T14:39:51Z</dcterms:created>
  <dcterms:modified xsi:type="dcterms:W3CDTF">2026-07-04T14:43:25Z</dcterms:modified>
</cp:coreProperties>
</file>