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4"/>
  </p:normalViewPr>
  <p:slideViewPr>
    <p:cSldViewPr snapToGrid="0">
      <p:cViewPr varScale="1">
        <p:scale>
          <a:sx n="114" d="100"/>
          <a:sy n="114" d="100"/>
        </p:scale>
        <p:origin x="4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C47CA-50D6-4EDC-A782-E13DA54FF1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48940C-3436-4084-A2EB-03C0D83377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CAB78-F8F4-4104-B740-C14EE1EC1C9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DAA6E-F6E3-4437-85A9-436ECE2FC1C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4F376-5BA9-45B8-8E5F-C6B448CE3EC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CD04D-2B0C-4510-9E49-9D883F556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9E5F3-7E11-406C-895D-C669B3932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6E2B2-3F9E-452C-AC93-55ECD59E903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7986C-7E0C-4E03-B4C4-3B084CF403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E4A1D-75C2-4B66-84D3-0B6D1F055D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BEE51-E12D-4376-8830-94E32793B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0D5068-57F8-472A-8A1C-48BAF3C54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335AE-9ECB-4A80-A38A-7E0FD073823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36E5C-BD2C-4BCB-ABFA-9235B26867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CC26A-6A55-4BD6-90D5-41E1E14482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03C39-A5E3-4E99-A98C-F36D006E3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9A5D2-2A88-4662-8FBF-1190C077F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B8A9D-732E-4BE2-B6DF-E1D452026920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BB1E2-6EAF-47EF-8A3A-4E6CD6DD683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358B11-C9BC-41C1-8078-73F84FD7EC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9B466F-9662-4316-80AD-CE4421AAD8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C135C-35E7-480B-B390-CC075F23D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DEEEB0-1CFF-4423-87B3-7974C726C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057DB0-9F5E-4958-AA7C-53B728C3D22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F5BEF0-EB99-40B0-916A-F3BD7F9624E8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3612-60FA-45CD-9608-2298182EF59C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9C4935-9061-4698-B96E-C7BFCC28B21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309049-0F72-42B5-808D-FEB0BFE6E6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C1CA5B-62C0-47D9-9E98-CFA1060F5C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C6D86-F588-4918-917F-639202B5B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0BBFEE-F5A5-4E9A-AAE5-85BD6157B0D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AB8C27-7687-463F-81CB-3B68721FA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2C0C6-2681-403E-9410-736920223C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9E6899-8F40-4E9C-A0E4-C0F0CDEBC17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0D9C7D-A483-451C-A264-33865CD2E8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049D4-99B9-4203-942C-CAEEA12239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E8468-099D-45F2-B309-301F7F5DD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CF688-575D-4C46-AC85-242FBBAF0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24C26-4B72-434A-8CA6-E8943BA758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3E391-0326-44C3-B49D-A413A0AE552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CFADA-A45B-4433-A805-48C46A427A8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58EA63-4DB6-4914-A723-D229AC0C34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10292-C8B3-477A-800A-18E01DF99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E97E5-850F-46B6-A20D-471E909B26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5DF34-5566-4761-93F5-1D1AFCA6125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82B1E4-F2F7-41C6-9EED-8C750518292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9597BB-A807-46E2-8064-289E9E38B7D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9706C-CC84-4AEE-84EE-EFFD8159DD3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A8DD-E27C-4201-8459-F6F68CD4F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0D90C3-33ED-4A40-BDDC-FF2F26642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3A8F0-A87F-4BD6-B028-7268E2B5A21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D44B6-5CB4-4AE2-A1C5-E0E936CDA95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5E04D-708F-4175-82DE-5F895C1F53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075833-E023-458E-A152-47BAD907A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304091-0576-41B1-B057-F906D53F3D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CD16F-747F-4CCC-8F87-4F9C40BDEE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CE3F3-6448-4713-BA8F-EF779D3C7E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80D81-096F-4F89-9E1B-7BD8C76048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F28B1A-E204-4FCB-93F1-5F7AA3960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1396C-43DC-4CB0-805B-8BA71FCD96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3987A-1CF3-4A1F-9DD3-4245E25F333E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F758A-A055-48F8-8890-B861C6CD978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0C24B-3564-4DB5-B917-653032D041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D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585E-705D-4054-A8CA-792C10D16B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781050"/>
            <a:ext cx="3619500" cy="895350"/>
          </a:xfrm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5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54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BatchHelm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C035C-DDA9-4142-BBCA-A08D1929D8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924050"/>
            <a:ext cx="3562350" cy="3238500"/>
          </a:xfrm>
        </p:spPr>
        <p:txBody>
          <a:bodyPr wrap="square" lIns="0" tIns="0" rIns="76200" bIns="0" anchor="t">
            <a:normAutofit/>
          </a:bodyPr>
          <a:lstStyle/>
          <a:p>
            <a:pPr marL="0" indent="0" algn="l">
              <a:spcAft>
                <a:spcPts val="24"/>
              </a:spcAft>
              <a:buNone/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recall packet becomes a controlled response.</a:t>
            </a:r>
          </a:p>
          <a:p>
            <a:pPr marL="0" indent="0" algn="l">
              <a:spcAft>
                <a:spcPts val="38"/>
              </a:spcAft>
              <a:buNone/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D6E3DF"/>
                </a:solidFill>
                <a:latin typeface="Aptos"/>
                <a:ea typeface="Aptos"/>
                <a:cs typeface="Aptos"/>
              </a:rPr>
              <a:t>Real intake. Nine specialist agents. Human evidence gate.</a:t>
            </a:r>
          </a:p>
          <a:p>
            <a:pPr marL="0" indent="0" algn="l">
              <a:spcAft>
                <a:spcPts val="7"/>
              </a:spcAft>
              <a:buNone/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A9D8D3"/>
                </a:solidFill>
                <a:latin typeface="Aptos"/>
                <a:ea typeface="Aptos"/>
                <a:cs typeface="Aptos"/>
              </a:rPr>
              <a:t>Qwen Global AI Hackathon</a:t>
            </a:r>
          </a:p>
          <a:p>
            <a:pPr marL="0" indent="0" algn="l">
              <a:spcAft>
                <a:spcPts val="0"/>
              </a:spcAft>
              <a:buNone/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Ankit Ranjan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FA28C1A-DE4E-4383-A352-07DEA7222B68}"/>
              </a:ext>
            </a:extLst>
          </p:cNvPr>
          <p:cNvSpPr>
            <a:spLocks noGrp="1"/>
          </p:cNvSpPr>
          <p:nvPr/>
        </p:nvSpPr>
        <p:spPr>
          <a:xfrm>
            <a:off x="4743450" y="571500"/>
            <a:ext cx="6781800" cy="571500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9525">
            <a:solidFill>
              <a:srgbClr val="2C62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 l="16590" r="16590"/>
          <a:stretch>
            <a:fillRect/>
          </a:stretch>
        </p:blipFill>
        <p:spPr>
          <a:xfrm>
            <a:off x="4762500" y="590550"/>
            <a:ext cx="6743700" cy="5676900"/>
          </a:xfrm>
          <a:prstGeom prst="roundRect">
            <a:avLst>
              <a:gd name="adj" fmla="val 1007"/>
            </a:avLst>
          </a:prstGeom>
        </p:spPr>
      </p:pic>
    </p:spTree>
    <p:extLst>
      <p:ext uri="{BB962C8B-B14F-4D97-AF65-F5344CB8AC3E}">
        <p14:creationId xmlns:p14="http://schemas.microsoft.com/office/powerpoint/2010/main" val="523999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D60A-BC59-4F1F-B069-8D3E800FD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Recalls create five unanswered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342A9-69CB-47E2-BC98-74284CB8A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4667250" cy="4324350"/>
          </a:xfrm>
        </p:spPr>
        <p:txBody>
          <a:bodyPr wrap="square" lIns="0" tIns="0" rIns="76200" bIns="0" anchor="t">
            <a:normAutofit/>
          </a:bodyPr>
          <a:lstStyle/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01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What product and lots are affected?</a:t>
            </a:r>
          </a:p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02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Where are matching units now?</a:t>
            </a:r>
          </a:p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03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Who must act?</a:t>
            </a:r>
          </a:p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04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Who may need notification?</a:t>
            </a:r>
          </a:p>
          <a:p>
            <a:pPr marL="0" indent="0" algn="l">
              <a:spcAft>
                <a:spcPts val="22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05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What evidence must survive?</a:t>
            </a:r>
          </a:p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Small operators must answer all five without enterprise recall tooling.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B490E8F-00CF-45F6-B973-6DA0619C4643}"/>
              </a:ext>
            </a:extLst>
          </p:cNvPr>
          <p:cNvSpPr>
            <a:spLocks noGrp="1"/>
          </p:cNvSpPr>
          <p:nvPr/>
        </p:nvSpPr>
        <p:spPr>
          <a:xfrm>
            <a:off x="6019800" y="1504950"/>
            <a:ext cx="2095500" cy="323850"/>
          </a:xfrm>
          <a:prstGeom prst="roundRect">
            <a:avLst>
              <a:gd name="adj" fmla="val 17647"/>
            </a:avLst>
          </a:prstGeom>
          <a:solidFill>
            <a:srgbClr val="FBEAE8"/>
          </a:solidFill>
          <a:ln w="9525">
            <a:solidFill>
              <a:srgbClr val="F3C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8064A8-12A9-45DF-A2B4-A349722D436B}"/>
              </a:ext>
            </a:extLst>
          </p:cNvPr>
          <p:cNvSpPr>
            <a:spLocks noGrp="1"/>
          </p:cNvSpPr>
          <p:nvPr/>
        </p:nvSpPr>
        <p:spPr>
          <a:xfrm>
            <a:off x="6096000" y="1533525"/>
            <a:ext cx="1943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SYNTHETIC DEMO PACKET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E193801-2704-484B-8D49-0049E7BCE4AC}"/>
              </a:ext>
            </a:extLst>
          </p:cNvPr>
          <p:cNvSpPr>
            <a:spLocks noGrp="1"/>
          </p:cNvSpPr>
          <p:nvPr/>
        </p:nvSpPr>
        <p:spPr>
          <a:xfrm>
            <a:off x="6000750" y="1962150"/>
            <a:ext cx="2647950" cy="4210050"/>
          </a:xfrm>
          <a:prstGeom prst="roundRect">
            <a:avLst>
              <a:gd name="adj" fmla="val 2158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19800" y="2378449"/>
            <a:ext cx="2609850" cy="3377453"/>
          </a:xfrm>
          <a:prstGeom prst="roundRect">
            <a:avLst>
              <a:gd name="adj" fmla="val 2190"/>
            </a:avLst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783372D-E10D-4C3F-B63E-6A027688112D}"/>
              </a:ext>
            </a:extLst>
          </p:cNvPr>
          <p:cNvSpPr>
            <a:spLocks noGrp="1"/>
          </p:cNvSpPr>
          <p:nvPr/>
        </p:nvSpPr>
        <p:spPr>
          <a:xfrm>
            <a:off x="8839200" y="1962150"/>
            <a:ext cx="2590800" cy="201930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/>
          <a:srcRect l="10994" r="10994"/>
          <a:stretch>
            <a:fillRect/>
          </a:stretch>
        </p:blipFill>
        <p:spPr>
          <a:xfrm>
            <a:off x="8858250" y="1981200"/>
            <a:ext cx="2552700" cy="1981200"/>
          </a:xfrm>
          <a:prstGeom prst="roundRect">
            <a:avLst>
              <a:gd name="adj" fmla="val 2885"/>
            </a:avLst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48A1BA-B2D9-4B9A-82C7-4D4CD3C411EA}"/>
              </a:ext>
            </a:extLst>
          </p:cNvPr>
          <p:cNvSpPr>
            <a:spLocks noGrp="1"/>
          </p:cNvSpPr>
          <p:nvPr/>
        </p:nvSpPr>
        <p:spPr>
          <a:xfrm>
            <a:off x="8858250" y="4267200"/>
            <a:ext cx="25527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Aft>
                <a:spcPts val="10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The notice identifies risk.</a:t>
            </a:r>
          </a:p>
          <a:p>
            <a:pPr marL="0" indent="0" algn="l">
              <a:spcAft>
                <a:spcPts val="8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The shelf image proves why evidence still needs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1868529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B0532-8A55-4D89-A415-332A73002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Files, Review, Launch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178D-AC97-4B37-85AB-F5ECFEDB5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485900"/>
            <a:ext cx="2914650" cy="4762500"/>
          </a:xfrm>
        </p:spPr>
        <p:txBody>
          <a:bodyPr wrap="square" lIns="0" tIns="0" rIns="76200" bIns="0" anchor="t">
            <a:normAutofit/>
          </a:bodyPr>
          <a:lstStyle/>
          <a:p>
            <a:pPr marL="0" indent="0" algn="l">
              <a:spcAft>
                <a:spcPts val="2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Ambiguous inputs become a launchable incident only after review.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6</a:t>
            </a:r>
            <a:r>
              <a:rPr sz="13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accepted rows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2</a:t>
            </a:r>
            <a:r>
              <a:rPr sz="13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safely rejected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23</a:t>
            </a:r>
            <a:r>
              <a:rPr sz="13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on-hand units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2</a:t>
            </a:r>
            <a:r>
              <a:rPr sz="13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stores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C47A00"/>
                </a:solidFill>
                <a:latin typeface="Aptos"/>
                <a:ea typeface="Aptos"/>
                <a:cs typeface="Aptos"/>
              </a:rPr>
              <a:t>2</a:t>
            </a:r>
            <a:r>
              <a:rPr sz="13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review warnings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F70062-3F71-4744-A0CB-D0CB43B2DAFE}"/>
              </a:ext>
            </a:extLst>
          </p:cNvPr>
          <p:cNvSpPr>
            <a:spLocks noGrp="1"/>
          </p:cNvSpPr>
          <p:nvPr/>
        </p:nvSpPr>
        <p:spPr>
          <a:xfrm>
            <a:off x="4095750" y="154305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12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01</a:t>
            </a:r>
            <a:r>
              <a:rPr sz="12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FILES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9406E0-FB77-40D0-92AF-9C7ECDDB0F65}"/>
              </a:ext>
            </a:extLst>
          </p:cNvPr>
          <p:cNvSpPr>
            <a:spLocks noGrp="1"/>
          </p:cNvSpPr>
          <p:nvPr/>
        </p:nvSpPr>
        <p:spPr>
          <a:xfrm>
            <a:off x="5219700" y="1704975"/>
            <a:ext cx="895350" cy="19050"/>
          </a:xfrm>
          <a:prstGeom prst="rect">
            <a:avLst/>
          </a:prstGeom>
          <a:solidFill>
            <a:srgbClr val="D6E3DF"/>
          </a:solidFill>
          <a:ln w="0">
            <a:solidFill>
              <a:srgbClr val="D6E3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7E3841-2DC3-41D2-9CB3-17452DAD3E8E}"/>
              </a:ext>
            </a:extLst>
          </p:cNvPr>
          <p:cNvSpPr>
            <a:spLocks noGrp="1"/>
          </p:cNvSpPr>
          <p:nvPr/>
        </p:nvSpPr>
        <p:spPr>
          <a:xfrm>
            <a:off x="6229350" y="1543050"/>
            <a:ext cx="1333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12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02</a:t>
            </a:r>
            <a:r>
              <a:rPr sz="12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REVIEW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DAB98C-AF8E-42BE-8A72-D113CBCF80B9}"/>
              </a:ext>
            </a:extLst>
          </p:cNvPr>
          <p:cNvSpPr>
            <a:spLocks noGrp="1"/>
          </p:cNvSpPr>
          <p:nvPr/>
        </p:nvSpPr>
        <p:spPr>
          <a:xfrm>
            <a:off x="7524750" y="1704975"/>
            <a:ext cx="895350" cy="19050"/>
          </a:xfrm>
          <a:prstGeom prst="rect">
            <a:avLst/>
          </a:prstGeom>
          <a:solidFill>
            <a:srgbClr val="D6E3DF"/>
          </a:solidFill>
          <a:ln w="0">
            <a:solidFill>
              <a:srgbClr val="D6E3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D2D69-77BC-4EDA-8F89-18DFD7E13089}"/>
              </a:ext>
            </a:extLst>
          </p:cNvPr>
          <p:cNvSpPr>
            <a:spLocks noGrp="1"/>
          </p:cNvSpPr>
          <p:nvPr/>
        </p:nvSpPr>
        <p:spPr>
          <a:xfrm>
            <a:off x="8534400" y="1543050"/>
            <a:ext cx="1333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12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03</a:t>
            </a:r>
            <a:r>
              <a:rPr sz="12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LAUNCH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3F33523-382D-4588-8EDC-A527AFF4FBB9}"/>
              </a:ext>
            </a:extLst>
          </p:cNvPr>
          <p:cNvSpPr>
            <a:spLocks noGrp="1"/>
          </p:cNvSpPr>
          <p:nvPr/>
        </p:nvSpPr>
        <p:spPr>
          <a:xfrm>
            <a:off x="4076700" y="2019300"/>
            <a:ext cx="3105150" cy="1762125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96808" y="2038350"/>
            <a:ext cx="3064933" cy="1724025"/>
          </a:xfrm>
          <a:prstGeom prst="roundRect">
            <a:avLst>
              <a:gd name="adj" fmla="val 3315"/>
            </a:avLst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1FD2D1A-7507-437C-8997-0926BEB0417B}"/>
              </a:ext>
            </a:extLst>
          </p:cNvPr>
          <p:cNvSpPr>
            <a:spLocks noGrp="1"/>
          </p:cNvSpPr>
          <p:nvPr/>
        </p:nvSpPr>
        <p:spPr>
          <a:xfrm>
            <a:off x="7353300" y="2019300"/>
            <a:ext cx="4076700" cy="230505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76583" y="2038350"/>
            <a:ext cx="4030133" cy="2266950"/>
          </a:xfrm>
          <a:prstGeom prst="roundRect">
            <a:avLst>
              <a:gd name="adj" fmla="val 2521"/>
            </a:avLst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5D0DEFD-8056-4060-A23E-DCDEC2B6FEBC}"/>
              </a:ext>
            </a:extLst>
          </p:cNvPr>
          <p:cNvSpPr>
            <a:spLocks noGrp="1"/>
          </p:cNvSpPr>
          <p:nvPr/>
        </p:nvSpPr>
        <p:spPr>
          <a:xfrm>
            <a:off x="4095750" y="4552950"/>
            <a:ext cx="7315200" cy="1524000"/>
          </a:xfrm>
          <a:prstGeom prst="roundRect">
            <a:avLst>
              <a:gd name="adj" fmla="val 3750"/>
            </a:avLst>
          </a:prstGeom>
          <a:solidFill>
            <a:srgbClr val="E6F3F1"/>
          </a:solidFill>
          <a:ln w="9525">
            <a:solidFill>
              <a:srgbClr val="B8D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F8F8FC-510E-41D3-BEA3-6A6CAC39DAD5}"/>
              </a:ext>
            </a:extLst>
          </p:cNvPr>
          <p:cNvSpPr>
            <a:spLocks noGrp="1"/>
          </p:cNvSpPr>
          <p:nvPr/>
        </p:nvSpPr>
        <p:spPr>
          <a:xfrm>
            <a:off x="4324350" y="4762500"/>
            <a:ext cx="685800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Aft>
                <a:spcPts val="14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0B3D38"/>
                </a:solidFill>
                <a:latin typeface="Aptos"/>
                <a:ea typeface="Aptos"/>
                <a:cs typeface="Aptos"/>
              </a:rPr>
              <a:t>Field-level provenance is visible before launch</a:t>
            </a:r>
          </a:p>
          <a:p>
            <a:pPr marL="0" indent="0" algn="l">
              <a:spcAft>
                <a:spcPts val="8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Supplier notice</a:t>
            </a:r>
            <a:r>
              <a:rPr sz="13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identifies the product and lots. </a:t>
            </a:r>
            <a:r>
              <a:rPr sz="13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Inventory rows</a:t>
            </a:r>
            <a:r>
              <a:rPr sz="13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carry accepted or rejected status. </a:t>
            </a:r>
            <a:r>
              <a:rPr sz="13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Shelf evidence</a:t>
            </a:r>
            <a:r>
              <a:rPr sz="13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remains explicitly unknown until reviewed.</a:t>
            </a:r>
          </a:p>
        </p:txBody>
      </p:sp>
    </p:spTree>
    <p:extLst>
      <p:ext uri="{BB962C8B-B14F-4D97-AF65-F5344CB8AC3E}">
        <p14:creationId xmlns:p14="http://schemas.microsoft.com/office/powerpoint/2010/main" val="1563788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F721-E1D7-4F93-8C0B-8C1E1A7DA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Autonomy stops at the evidence gate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58AE3-BB07-41D6-BE8F-697A1BF42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04950"/>
            <a:ext cx="4762500" cy="4762500"/>
          </a:xfrm>
        </p:spPr>
        <p:txBody>
          <a:bodyPr wrap="square" lIns="0" tIns="0" rIns="76200" bIns="0" anchor="t">
            <a:normAutofit/>
          </a:bodyPr>
          <a:lstStyle/>
          <a:p>
            <a:pPr marL="0" indent="0" algn="l">
              <a:spcAft>
                <a:spcPts val="26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The system can act quickly because uncertainty is never hidden.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VERSIONED</a:t>
            </a:r>
            <a:r>
              <a:rPr sz="150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Reviewer corrections become new evidence.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CONFLICT</a:t>
            </a:r>
            <a:r>
              <a:rPr sz="150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Stale reviewer versions cannot overwrite newer work.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IMMUTABLE</a:t>
            </a:r>
            <a:r>
              <a:rPr sz="150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Confirmation creates the incident snapshot.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BLOCKED</a:t>
            </a:r>
            <a:r>
              <a:rPr sz="150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Launch is unavailable before confirmation.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C47A00"/>
                </a:solidFill>
                <a:latin typeface="Aptos"/>
                <a:ea typeface="Aptos"/>
                <a:cs typeface="Aptos"/>
              </a:rPr>
              <a:t>UNKNOWN</a:t>
            </a:r>
            <a:r>
              <a:rPr sz="150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Unreadable shelf evidence escalates to review.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F73BC63-2B07-4DC0-AFAB-7BD27815B0B8}"/>
              </a:ext>
            </a:extLst>
          </p:cNvPr>
          <p:cNvSpPr>
            <a:spLocks noGrp="1"/>
          </p:cNvSpPr>
          <p:nvPr/>
        </p:nvSpPr>
        <p:spPr>
          <a:xfrm>
            <a:off x="6057900" y="1485900"/>
            <a:ext cx="2171700" cy="46482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78620" y="1504950"/>
            <a:ext cx="2130259" cy="4610100"/>
          </a:xfrm>
          <a:prstGeom prst="roundRect">
            <a:avLst>
              <a:gd name="adj" fmla="val 2679"/>
            </a:avLst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3D48685-D400-4977-AB16-250FE05F7A9D}"/>
              </a:ext>
            </a:extLst>
          </p:cNvPr>
          <p:cNvSpPr>
            <a:spLocks noGrp="1"/>
          </p:cNvSpPr>
          <p:nvPr/>
        </p:nvSpPr>
        <p:spPr>
          <a:xfrm>
            <a:off x="8553450" y="16383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FF3D6"/>
          </a:solidFill>
          <a:ln w="9525">
            <a:solidFill>
              <a:srgbClr val="EACB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23BA79-8918-41B5-B9CF-FC8FD5167DB3}"/>
              </a:ext>
            </a:extLst>
          </p:cNvPr>
          <p:cNvSpPr>
            <a:spLocks noGrp="1"/>
          </p:cNvSpPr>
          <p:nvPr/>
        </p:nvSpPr>
        <p:spPr>
          <a:xfrm>
            <a:off x="8629650" y="1666875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C47A00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C47A00"/>
                </a:solidFill>
                <a:latin typeface="Aptos"/>
                <a:ea typeface="Aptos"/>
                <a:cs typeface="Aptos"/>
              </a:rPr>
              <a:t>HUMAN EVIDENCE GATE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3CA64C9-ECC5-4F61-978A-4976A87719A2}"/>
              </a:ext>
            </a:extLst>
          </p:cNvPr>
          <p:cNvSpPr>
            <a:spLocks noGrp="1"/>
          </p:cNvSpPr>
          <p:nvPr/>
        </p:nvSpPr>
        <p:spPr>
          <a:xfrm>
            <a:off x="8553450" y="2247900"/>
            <a:ext cx="2667000" cy="165735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C8CA68-C7FA-45DB-9334-5057F5A174FA}"/>
              </a:ext>
            </a:extLst>
          </p:cNvPr>
          <p:cNvSpPr>
            <a:spLocks noGrp="1"/>
          </p:cNvSpPr>
          <p:nvPr/>
        </p:nvSpPr>
        <p:spPr>
          <a:xfrm>
            <a:off x="8782050" y="2457450"/>
            <a:ext cx="22098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724"/>
          </a:bodyPr>
          <a:lstStyle/>
          <a:p>
            <a:pPr marL="0" indent="0" algn="l">
              <a:spcAft>
                <a:spcPts val="12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Neutral fallback</a:t>
            </a:r>
          </a:p>
          <a:p>
            <a:pPr marL="0" indent="0" algn="l">
              <a:spcAft>
                <a:spcPts val="8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An arbitrary image never becomes a false match. It stays unknown, preserves provenance, and requires review.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76FC5B-C359-490C-9465-0A15A9D37864}"/>
              </a:ext>
            </a:extLst>
          </p:cNvPr>
          <p:cNvSpPr>
            <a:spLocks noGrp="1"/>
          </p:cNvSpPr>
          <p:nvPr/>
        </p:nvSpPr>
        <p:spPr>
          <a:xfrm>
            <a:off x="8553450" y="4248150"/>
            <a:ext cx="38100" cy="533400"/>
          </a:xfrm>
          <a:prstGeom prst="rect">
            <a:avLst/>
          </a:prstGeom>
          <a:solidFill>
            <a:srgbClr val="C47A00"/>
          </a:solidFill>
          <a:ln w="0">
            <a:solidFill>
              <a:srgbClr val="C47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A326A9-1925-4416-B3CC-BB4B52C1BB45}"/>
              </a:ext>
            </a:extLst>
          </p:cNvPr>
          <p:cNvSpPr>
            <a:spLocks noGrp="1"/>
          </p:cNvSpPr>
          <p:nvPr/>
        </p:nvSpPr>
        <p:spPr>
          <a:xfrm>
            <a:off x="8686800" y="4248150"/>
            <a:ext cx="2533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127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2</a:t>
            </a:r>
            <a:r>
              <a:rPr sz="1275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 warnings remain visible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F8F6BA-A4C1-48A9-9F8F-4170C38CB8F6}"/>
              </a:ext>
            </a:extLst>
          </p:cNvPr>
          <p:cNvSpPr>
            <a:spLocks noGrp="1"/>
          </p:cNvSpPr>
          <p:nvPr/>
        </p:nvSpPr>
        <p:spPr>
          <a:xfrm>
            <a:off x="8553450" y="5010150"/>
            <a:ext cx="38100" cy="533400"/>
          </a:xfrm>
          <a:prstGeom prst="rect">
            <a:avLst/>
          </a:prstGeom>
          <a:solidFill>
            <a:srgbClr val="087C72"/>
          </a:solidFill>
          <a:ln w="0">
            <a:solidFill>
              <a:srgbClr val="087C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AEFC66-9AD9-4079-A6DE-EA10BB2BBA4B}"/>
              </a:ext>
            </a:extLst>
          </p:cNvPr>
          <p:cNvSpPr>
            <a:spLocks noGrp="1"/>
          </p:cNvSpPr>
          <p:nvPr/>
        </p:nvSpPr>
        <p:spPr>
          <a:xfrm>
            <a:off x="8686800" y="5010150"/>
            <a:ext cx="2533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0"/>
              </a:spcAft>
              <a:buNone/>
              <a:defRPr sz="127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1</a:t>
            </a:r>
            <a:r>
              <a:rPr sz="1275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 confirmation unlocks launch</a:t>
            </a:r>
          </a:p>
        </p:txBody>
      </p:sp>
    </p:spTree>
    <p:extLst>
      <p:ext uri="{BB962C8B-B14F-4D97-AF65-F5344CB8AC3E}">
        <p14:creationId xmlns:p14="http://schemas.microsoft.com/office/powerpoint/2010/main" val="200148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A2C61-4A53-47E3-9FCA-06D533584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  <a:defRPr sz="3200">
                <a:solidFill>
                  <a:srgbClr val="1F6FEB"/>
                </a:solidFill>
              </a:defRPr>
            </a:pPr>
            <a:r>
              <a:t>Qwen Cloud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05989-85E0-400D-AE2A-A7ED24F6A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Calls Qwen Cloud through Alibaba Cloud Model Studio's OpenAI-compatible chat endpoint — qwen-plus for text, qwen-vl-plus for shelf-photo vision.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Six workflow steps are Qwen-driven: recall extraction, inventory-match reasoning, risk classification, customer-notice drafting, shelf-photo interpretation, and the management briefing.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Every Qwen response is validated against a Pydantic schema and repaired to a deterministic fallback on any failure, so the workflow never breaks.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Two runtime modes: live (QWEN_API_KEY configured) and demo-fallback (deterministic outputs, used for reliable tests and demos without credentials).</a:t>
            </a:r>
          </a:p>
        </p:txBody>
      </p:sp>
    </p:spTree>
    <p:extLst>
      <p:ext uri="{BB962C8B-B14F-4D97-AF65-F5344CB8AC3E}">
        <p14:creationId xmlns:p14="http://schemas.microsoft.com/office/powerpoint/2010/main" val="2108647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16AC3-1E0A-46ED-BCD5-FBFE66B87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  <a:defRPr sz="3200">
                <a:solidFill>
                  <a:srgbClr val="1F6FEB"/>
                </a:solidFill>
              </a:defRPr>
            </a:pPr>
            <a:r>
              <a:t>Agent Society — Nine Specialists, One DAG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F577C-6D71-40F0-83E0-AF935CCF5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Recall Intake -&gt; Document Extraction -&gt; Inventory Matching / Shelf Vision -&gt; Risk Scoring / Memory -&gt; Operations Task / Communications -&gt; Compliance Evidence.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Independent specialists run inside the same wave instead of one after another — six parallel waves in total for nine agents.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Each agent gets per-attempt retries, and a failing agent's downstream dependents are skipped cleanly rather than aborting the whole run.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The orchestrator reconciles disagreement between Qwen's reasoning and the authoritative inventory ground truth before assembling the final analysis.</a:t>
            </a:r>
          </a:p>
        </p:txBody>
      </p:sp>
    </p:spTree>
    <p:extLst>
      <p:ext uri="{BB962C8B-B14F-4D97-AF65-F5344CB8AC3E}">
        <p14:creationId xmlns:p14="http://schemas.microsoft.com/office/powerpoint/2010/main" val="467347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BD6AE-8ADB-4D5F-A80E-545FA590A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  <a:defRPr sz="3200">
                <a:solidFill>
                  <a:srgbClr val="1F6FEB"/>
                </a:solidFill>
              </a:defRPr>
            </a:pPr>
            <a:r>
              <a:t>Durable Mission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86F71-5261-4A18-B921-541BF4FE7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A newly built durable-orchestration layer: SQLite-backed run and event repository, resumable Orchestrator.run(recovery=...) API, and a rebuilt Mission Control dashboard.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Every completed wave persists a typed checkpoint (blackboard state + agent results) before moving on.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A run that crashes mid-way resumes from its last wave checkpoint instead of restarting from agent one.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The dashboard subscribes to a replayable SSE stream — refreshing or reconnecting resumes the same run rather than starting a new one.</a:t>
            </a:r>
          </a:p>
        </p:txBody>
      </p:sp>
    </p:spTree>
    <p:extLst>
      <p:ext uri="{BB962C8B-B14F-4D97-AF65-F5344CB8AC3E}">
        <p14:creationId xmlns:p14="http://schemas.microsoft.com/office/powerpoint/2010/main" val="1551165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E9728-6A1D-424E-8DE9-74AC0CEEF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  <a:defRPr sz="3200">
                <a:solidFill>
                  <a:srgbClr val="1F6FEB"/>
                </a:solidFill>
              </a:defRPr>
            </a:pPr>
            <a:r>
              <a:t>Benchmark: Agent Society vs. Single-Agent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A32D6-BDE7-4FCA-8DA4-2791F6663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Same nine specialist agents, same demo incident, only the execution strategy differs — measured with services/api/scripts/benchmark_agent_society.py.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Latency: the 6-wave DAG completed 1.49x faster than a strictly sequential single-agent pipeline at identical per-agent cost.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Failure isolation: forcing one agent to fail, the DAG still delivered 4/9 completed agents with clean downstream skips; the sequential baseline aborted the entire run after 3/9 agents.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Checkpoint/resume: after a simulated crash, the DAG re-ran only 3/9 agents (33%) from its last checkpoint; the baseline has no resume mechanism and would re-run 9/9 (100%).</a:t>
            </a:r>
          </a:p>
        </p:txBody>
      </p:sp>
    </p:spTree>
    <p:extLst>
      <p:ext uri="{BB962C8B-B14F-4D97-AF65-F5344CB8AC3E}">
        <p14:creationId xmlns:p14="http://schemas.microsoft.com/office/powerpoint/2010/main" val="1332969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5BE9B-2AAC-411B-98E3-742853BD9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  <a:defRPr sz="3200">
                <a:solidFill>
                  <a:srgbClr val="1F6FEB"/>
                </a:solidFill>
              </a:defRPr>
            </a:pPr>
            <a:r>
              <a:t>Impact &amp; Judging Criteria Coverage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F59C1-19B6-4DEF-AA1A-C8E47814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Problem value: recall response for small grocers, restaurants, pharmacies, cafeterias, and distributors that lack enterprise tooling — with an audit-ready evidence packet as the output that matters.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Innovation &amp; AI creativity: a real multi-agent society, Qwen-driven structured reasoning, conflict reconciliation between model output and ground truth, and persistent cross-run memory.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Technical depth: DAG orchestration with parallel waves, retries, typed restart checkpoints, persisted SSE replay, validated Qwen schemas, idempotent SQLite ledgers, Docker/Compose/CI.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Presentation &amp; docs: README, architecture diagram, Qwen integration guide, deployment guide, demo script, and an honest known-limitations doc.</a:t>
            </a:r>
          </a:p>
        </p:txBody>
      </p:sp>
    </p:spTree>
    <p:extLst>
      <p:ext uri="{BB962C8B-B14F-4D97-AF65-F5344CB8AC3E}">
        <p14:creationId xmlns:p14="http://schemas.microsoft.com/office/powerpoint/2010/main" val="2038076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0EBE0-D5C7-4610-BE00-124DCC0E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  <a:defRPr sz="3200">
                <a:solidFill>
                  <a:srgbClr val="1F6FEB"/>
                </a:solidFill>
              </a:defRPr>
            </a:pPr>
            <a:r>
              <a:t>Demo &amp;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7DEEF-0C49-435F-B11A-AFF9A8EDE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Repository: github.com/ankitranjan-dsai/batchhelm-ai (MIT license)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Architecture: docs/architecture.md   ·   Qwen integration: docs/qwen-integration.md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Sample evidence packet: docs/sample-evidence-packet.md   ·   Sample walkthrough: docs/sample-incident-walkthrough.md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Benchmark report: docs/benchmarks/agent-society-vs-single-agent.md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Demo script: docs/demo-script.md</a:t>
            </a:r>
          </a:p>
          <a:p>
            <a:pPr>
              <a:buNone/>
            </a:pPr>
            <a:r>
              <a:rPr sz="1800">
                <a:solidFill>
                  <a:srgbClr val="222222"/>
                </a:solidFill>
              </a:rPr>
              <a:t>Live deployment URL and demo video: in progress — tracked in docs/submission-checklist.md</a:t>
            </a:r>
          </a:p>
        </p:txBody>
      </p:sp>
    </p:spTree>
    <p:extLst>
      <p:ext uri="{BB962C8B-B14F-4D97-AF65-F5344CB8AC3E}">
        <p14:creationId xmlns:p14="http://schemas.microsoft.com/office/powerpoint/2010/main" val="2106645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</Words>
  <Application>Microsoft Macintosh PowerPoint</Application>
  <DocSecurity>0</DocSecurity>
  <PresentationFormat>Widescreen</PresentationFormat>
  <Paragraphs>71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Calibri</vt:lpstr>
      <vt:lpstr>Office Theme</vt:lpstr>
      <vt:lpstr>BatchHelm</vt:lpstr>
      <vt:lpstr>Recalls create five unanswered questions</vt:lpstr>
      <vt:lpstr>Files, Review, Launch</vt:lpstr>
      <vt:lpstr>Autonomy stops at the evidence gate</vt:lpstr>
      <vt:lpstr>Qwen Cloud Integration</vt:lpstr>
      <vt:lpstr>Agent Society — Nine Specialists, One DAG</vt:lpstr>
      <vt:lpstr>Durable Mission Control</vt:lpstr>
      <vt:lpstr>Benchmark: Agent Society vs. Single-Agent Baseline</vt:lpstr>
      <vt:lpstr>Impact &amp; Judging Criteria Coverage</vt:lpstr>
      <vt:lpstr>Demo &amp;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BatchHelm AI - Qwen Global AI Hackathon</dc:title>
  <dc:subject>Production-shaped recall autopilot</dc:subject>
  <dc:creator>Ankit Ranjan</dc:creator>
  <dc:description>BatchHelm hackathon presentation</dc:description>
  <cp:lastModifiedBy>Ankit Ranjan</cp:lastModifiedBy>
  <cp:revision>1</cp:revision>
  <dcterms:created xsi:type="dcterms:W3CDTF">2026-07-04T14:24:29Z</dcterms:created>
  <dcterms:modified xsi:type="dcterms:W3CDTF">2026-07-04T14:31:03Z</dcterms:modified>
</cp:coreProperties>
</file>